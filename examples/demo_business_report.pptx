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9"/>
    <p:sldId id="257" r:id="rId10"/>
    <p:sldId id="258" r:id="rId8"/>
    <p:sldId id="259" r:id="rId7"/>
    <p:sldId id="260" r:id="rId6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jf" initials="M" lastIdx="1" clrIdx="0"/>
  <p:cmAuthor id="757" name="未知用户381" initials="未" lastIdx="1" clrIdx="0"/>
  <p:cmAuthor id="1" name="qiu zixuan" initials="qz" lastIdx="1" clrIdx="0"/>
  <p:cmAuthor id="758" name="未知用户382" initials="未" lastIdx="1" clrIdx="0"/>
  <p:cmAuthor id="2" name="EDZ" initials="E" lastIdx="1" clrIdx="1"/>
  <p:cmAuthor id="759" name="未知用户383" initials="未" lastIdx="1" clrIdx="0"/>
  <p:cmAuthor id="3" name="Pei Chang(联通集团信息化事业部)" initials="PC" lastIdx="0" clrIdx="2"/>
  <p:cmAuthor id="760" name="未知用户384" initials="未" lastIdx="1" clrIdx="0"/>
  <p:cmAuthor id="4" name="Xing Zhang" initials="XZ" lastIdx="1" clrIdx="3"/>
  <p:cmAuthor id="761" name="未知用户294" initials="未" lastIdx="8" clrIdx="0"/>
  <p:cmAuthor id="5" name="Jet 张" initials="J张" lastIdx="1" clrIdx="3"/>
  <p:cmAuthor id="762" name="未知用户385" initials="未" lastIdx="2" clrIdx="0"/>
  <p:cmAuthor id="6" name="Administrator" initials="A" lastIdx="1" clrIdx="5"/>
  <p:cmAuthor id="763" name="未知用户386" initials="未" lastIdx="1" clrIdx="1"/>
  <p:cmAuthor id="7" name="gd-zengxy10@outlook.com" initials="g" lastIdx="1" clrIdx="6"/>
  <p:cmAuthor id="764" name="未知用户429" initials="未" lastIdx="1" clrIdx="0"/>
  <p:cmAuthor id="8" name="AW" initials="A" lastIdx="1" clrIdx="7"/>
  <p:cmAuthor id="9" name="lixr110" initials="l" lastIdx="1" clrIdx="8"/>
  <p:cmAuthor id="766" name="未知用户430" initials="未" lastIdx="2" clrIdx="0"/>
  <p:cmAuthor id="10" name="unicom" initials="u" lastIdx="1" clrIdx="9"/>
  <p:cmAuthor id="767" name="未知用户389" initials="未" lastIdx="1" clrIdx="0"/>
  <p:cmAuthor id="11" name="A4512" initials="A" lastIdx="1" clrIdx="10"/>
  <p:cmAuthor id="768" name="未知用户350" initials="未" lastIdx="1" clrIdx="0"/>
  <p:cmAuthor id="12" name="郭俊明" initials="WU" lastIdx="1" clrIdx="11"/>
  <p:cmAuthor id="769" name="未知用户431" initials="未" lastIdx="1" clrIdx="0"/>
  <p:cmAuthor id="13" name="chen trista" initials="ct" lastIdx="1" clrIdx="12"/>
  <p:cmAuthor id="770" name="未知用户351" initials="未" lastIdx="8" clrIdx="0"/>
  <p:cmAuthor id="14" name="李岩（IT）" initials="李" lastIdx="2" clrIdx="13"/>
  <p:cmAuthor id="771" name="未知用户432" initials="未" lastIdx="1" clrIdx="0"/>
  <p:cmAuthor id="15" name="changwei" initials="c" lastIdx="3" clrIdx="14"/>
  <p:cmAuthor id="772" name="未知用户392" initials="未" lastIdx="1" clrIdx="0"/>
  <p:cmAuthor id="16" name="周辉" initials="周" lastIdx="1" clrIdx="15"/>
  <p:cmAuthor id="773" name="未知用户433" initials="未" lastIdx="1" clrIdx="0"/>
  <p:cmAuthor id="17" name="ccb" initials="c" lastIdx="1" clrIdx="0"/>
  <p:cmAuthor id="774" name="未知用户434" initials="未" lastIdx="1" clrIdx="0"/>
  <p:cmAuthor id="18" name="sx_xuzx" initials="s" lastIdx="26" clrIdx="17"/>
  <p:cmAuthor id="775" name="未知用户393" initials="未" lastIdx="11" clrIdx="0"/>
  <p:cmAuthor id="19" name="tplife" initials="t" lastIdx="2" clrIdx="0"/>
  <p:cmAuthor id="776" name="未知用户435" initials="未" lastIdx="7" clrIdx="1"/>
  <p:cmAuthor id="20" name="孟 昕" initials="孟" lastIdx="1" clrIdx="18"/>
  <p:cmAuthor id="777" name="未知用户356" initials="未" lastIdx="1" clrIdx="2"/>
  <p:cmAuthor id="21" name="admin" initials="a" lastIdx="4" clrIdx="20"/>
  <p:cmAuthor id="778" name="未知用户436" initials="未" lastIdx="1" clrIdx="0"/>
  <p:cmAuthor id="22" name="Redeker, Yolanda" initials="R" lastIdx="9" clrIdx="1"/>
  <p:cmAuthor id="1411827" name="黄晓平" initials="黄" lastIdx="0" clrIdx="0"/>
  <p:cmAuthor id="779" name="未知用户396" initials="未" lastIdx="1" clrIdx="0"/>
  <p:cmAuthor id="23" name="zhangxy833" initials="z" lastIdx="1" clrIdx="22"/>
  <p:cmAuthor id="1411828" name="徐琳00159163" initials="徐琳00159163" lastIdx="1" clrIdx="37"/>
  <p:cmAuthor id="780" name="未知用户437" initials="未" lastIdx="1" clrIdx="1"/>
  <p:cmAuthor id="24" name="suochuqiao" initials="s" lastIdx="1" clrIdx="23"/>
  <p:cmAuthor id="1411829" name="任涛10036216" initials="任涛10036216" lastIdx="1" clrIdx="41"/>
  <p:cmAuthor id="781" name="未知用户397" initials="未" lastIdx="1" clrIdx="0"/>
  <p:cmAuthor id="25" name="Tao, Sherry Sitong" initials="T" lastIdx="1" clrIdx="14"/>
  <p:cmAuthor id="782" name="未知用户419" initials="未" lastIdx="1" clrIdx="0"/>
  <p:cmAuthor id="26" name="Xin Wang (IB)" initials="X" lastIdx="7" clrIdx="0"/>
  <p:cmAuthor id="783" name="未知用户399" initials="未" lastIdx="2" clrIdx="0"/>
  <p:cmAuthor id="191251535" name="沈霄雷" initials="沈" lastIdx="833089" clrIdx="0"/>
  <p:cmAuthor id="784" name="未知用户438" initials="未" lastIdx="7" clrIdx="1"/>
  <p:cmAuthor id="27" name="hj" initials="h" lastIdx="2" clrIdx="2"/>
  <p:cmAuthor id="191251536" name="张钰" initials="张" lastIdx="1" clrIdx="25"/>
  <p:cmAuthor id="785" name="未知用户401" initials="未" lastIdx="43" clrIdx="1"/>
  <p:cmAuthor id="28" name="IKKI" initials="I" lastIdx="1" clrIdx="0"/>
  <p:cmAuthor id="191251537" name="韩国鹏" initials="A" lastIdx="1" clrIdx="25"/>
  <p:cmAuthor id="786" name="未知用户402" initials="未" lastIdx="1" clrIdx="0"/>
  <p:cmAuthor id="29" name="於宝泉" initials="於" lastIdx="0" clrIdx="2"/>
  <p:cmAuthor id="191251538" name="y x" initials="yx" lastIdx="1" clrIdx="34"/>
  <p:cmAuthor id="787" name="未知用户403" initials="未" lastIdx="1" clrIdx="0"/>
  <p:cmAuthor id="30" name="CAOH16" initials="C" lastIdx="1" clrIdx="29"/>
  <p:cmAuthor id="191251539" name="席琛" initials="" lastIdx="0" clrIdx="58"/>
  <p:cmAuthor id="788" name="未知用户327" initials="未" lastIdx="1" clrIdx="0"/>
  <p:cmAuthor id="31" name="limy709" initials="l" lastIdx="1" clrIdx="30"/>
  <p:cmAuthor id="191251540" name="韩剑侠" initials="P" lastIdx="1" clrIdx="41"/>
  <p:cmAuthor id="789" name="未知用户404" initials="未" lastIdx="1" clrIdx="0"/>
  <p:cmAuthor id="32" name="10033224" initials="1" lastIdx="1" clrIdx="31"/>
  <p:cmAuthor id="33" name="屈克" initials="屈" lastIdx="1" clrIdx="32"/>
  <p:cmAuthor id="790" name="未知用户405" initials="未" lastIdx="1" clrIdx="0"/>
  <p:cmAuthor id="34" name="马媛" initials="马" lastIdx="1" clrIdx="33"/>
  <p:cmAuthor id="791" name="未知用户439" initials="未" lastIdx="2" clrIdx="0"/>
  <p:cmAuthor id="35" name="Lenovo" initials="L" lastIdx="16" clrIdx="35"/>
  <p:cmAuthor id="792" name="未知用户406" initials="未" lastIdx="0" clrIdx="0"/>
  <p:cmAuthor id="475196944" name="姚琳" initials="姚" lastIdx="1133934" clrIdx="0"/>
  <p:cmAuthor id="36" name="86186" initials="8" lastIdx="2" clrIdx="35"/>
  <p:cmAuthor id="793" name="未知用户440" initials="未" lastIdx="1" clrIdx="0"/>
  <p:cmAuthor id="475196945" name="chen" initials="c" lastIdx="1" clrIdx="2"/>
  <p:cmAuthor id="37" name="黄珂10009187" initials="黄珂10009187" lastIdx="1" clrIdx="37"/>
  <p:cmAuthor id="794" name="未知用户441" initials="未" lastIdx="1" clrIdx="0"/>
  <p:cmAuthor id="38" name="Gao" initials="G" lastIdx="1" clrIdx="37"/>
  <p:cmAuthor id="795" name="未知用户442" initials="未" lastIdx="1" clrIdx="0"/>
  <p:cmAuthor id="39" name="10206899" initials="1" lastIdx="1" clrIdx="38"/>
  <p:cmAuthor id="796" name="未知用户409" initials="未" lastIdx="2" clrIdx="2"/>
  <p:cmAuthor id="40" name="10133177" initials="1" lastIdx="1" clrIdx="39"/>
  <p:cmAuthor id="797" name="未知用户443" initials="未" lastIdx="1" clrIdx="0"/>
  <p:cmAuthor id="41" name="10072453" initials="1" lastIdx="1" clrIdx="40"/>
  <p:cmAuthor id="798" name="未知用户411" initials="未" lastIdx="3" clrIdx="1"/>
  <p:cmAuthor id="42" name="未知的使用者77" initials="" lastIdx="1" clrIdx="0"/>
  <p:cmAuthor id="799" name="未知用户444" initials="未" lastIdx="6" clrIdx="0"/>
  <p:cmAuthor id="43" name="未知的使用者92" initials="" lastIdx="1" clrIdx="0"/>
  <p:cmAuthor id="800" name="未知用户413" initials="未" lastIdx="1" clrIdx="1"/>
  <p:cmAuthor id="44" name="未知的使用者78" initials="" lastIdx="5" clrIdx="1"/>
  <p:cmAuthor id="801" name="未知用户445" initials="未" lastIdx="1" clrIdx="0"/>
  <p:cmAuthor id="45" name="10285602" initials="1" lastIdx="1" clrIdx="44"/>
  <p:cmAuthor id="802" name="未知用户446" initials="未" lastIdx="1" clrIdx="0"/>
  <p:cmAuthor id="46" name="未知的使用者79" initials="" lastIdx="0" clrIdx="1"/>
  <p:cmAuthor id="803" name="未知用户447" initials="未" lastIdx="1" clrIdx="0"/>
  <p:cmAuthor id="47" name="未知用户107" initials="" lastIdx="1" clrIdx="0"/>
  <p:cmAuthor id="804" name="未知用户448" initials="未" lastIdx="1" clrIdx="0"/>
  <p:cmAuthor id="48" name="未知的使用者80" initials="" lastIdx="0" clrIdx="0"/>
  <p:cmAuthor id="805" name="未知用户333" initials="未" lastIdx="1" clrIdx="0"/>
  <p:cmAuthor id="49" name="未知用户51" initials="" lastIdx="1" clrIdx="1"/>
  <p:cmAuthor id="806" name="未知用户417" initials="未" lastIdx="1" clrIdx="0"/>
  <p:cmAuthor id="50" name="未知的使用者82" initials="" lastIdx="1" clrIdx="0"/>
  <p:cmAuthor id="807" name="未知用户449" initials="未" lastIdx="1" clrIdx="0"/>
  <p:cmAuthor id="51" name="MLOONG" initials="M" lastIdx="1" clrIdx="0"/>
  <p:cmAuthor id="808" name="未知用户418" initials="未" lastIdx="1" clrIdx="0"/>
  <p:cmAuthor id="52" name="未知的使用者83" initials="" lastIdx="1" clrIdx="0"/>
  <p:cmAuthor id="809" name="未知用户450" initials="未" lastIdx="6" clrIdx="0"/>
  <p:cmAuthor id="53" name="未知的使用者118" initials="" lastIdx="1" clrIdx="0"/>
  <p:cmAuthor id="810" name="未知用户423" initials="未" lastIdx="0" clrIdx="0"/>
  <p:cmAuthor id="54" name="未知的使用者84" initials="" lastIdx="1" clrIdx="1"/>
  <p:cmAuthor id="811" name="未知用户424" initials="未" lastIdx="5" clrIdx="0"/>
  <p:cmAuthor id="55" name="未知的使用者70" initials="" lastIdx="1" clrIdx="0"/>
  <p:cmAuthor id="812" name="未知用户425" initials="未" lastIdx="3" clrIdx="1"/>
  <p:cmAuthor id="56" name="未知的使用者85" initials="" lastIdx="1" clrIdx="0"/>
  <p:cmAuthor id="813" name="未知用户451" initials="未" lastIdx="1" clrIdx="0"/>
  <p:cmAuthor id="57" name="未知的使用者40" initials="" lastIdx="1" clrIdx="0"/>
  <p:cmAuthor id="814" name="未知用户452" initials="未" lastIdx="1" clrIdx="0"/>
  <p:cmAuthor id="58" name="未知的使用者87" initials="" lastIdx="1" clrIdx="0"/>
  <p:cmAuthor id="815" name="未知用户453" initials="未" lastIdx="1" clrIdx="0"/>
  <p:cmAuthor id="59" name="曾红" initials="" lastIdx="0" clrIdx="0"/>
  <p:cmAuthor id="816" name="未知用户454" initials="未" lastIdx="1" clrIdx="2"/>
  <p:cmAuthor id="60" name="未知的使用者90" initials="" lastIdx="8" clrIdx="0"/>
  <p:cmAuthor id="817" name="未知用户455" initials="未" lastIdx="1" clrIdx="0"/>
  <p:cmAuthor id="61" name="未知的使用者29" initials="" lastIdx="1" clrIdx="0"/>
  <p:cmAuthor id="818" name="未知用户456" initials="未" lastIdx="2" clrIdx="0"/>
  <p:cmAuthor id="62" name="未知的使用者91" initials="" lastIdx="1" clrIdx="0"/>
  <p:cmAuthor id="819" name="未知用户457" initials="未" lastIdx="10" clrIdx="0"/>
  <p:cmAuthor id="63" name="未知的使用者98" initials="" lastIdx="1" clrIdx="0"/>
  <p:cmAuthor id="820" name="未知用户458" initials="未" lastIdx="1" clrIdx="0"/>
  <p:cmAuthor id="64" name="CHRISYU" initials="" lastIdx="1" clrIdx="0"/>
  <p:cmAuthor id="821" name="風輕 雲淡" initials="風輕" lastIdx="1" clrIdx="511"/>
  <p:cmAuthor id="65" name="未知的使用者113" initials="" lastIdx="1" clrIdx="2"/>
  <p:cmAuthor id="822" name="liu yuhang" initials="ly" lastIdx="18" clrIdx="545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作者" initials="A" lastIdx="0" clrIdx="24"/>
  <p:cmAuthor id="76" name="康孟海" initials="kangmh6" lastIdx="1" clrIdx="34"/>
  <p:cmAuthor id="77" name="zheng zheng" initials="zz" lastIdx="1" clrIdx="26"/>
  <p:cmAuthor id="78" name="Lina Hang(联通上海市上海市分公司)" initials="LH" lastIdx="2" clrIdx="27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353158055" name="韩雨" initials="韩" lastIdx="0" clrIdx="0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46566726" name="高飞" initials="高" lastIdx="0" clrIdx="0"/>
  <p:cmAuthor id="146566727" name="xzb1" initials="x" lastIdx="1" clrIdx="1"/>
  <p:cmAuthor id="172" name="潘 晨" initials="潘" lastIdx="2" clrIdx="18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未知的使用者136" initials="未" lastIdx="1" clrIdx="0"/>
  <p:cmAuthor id="212" name="Daniel Wuu" initials="" lastIdx="1" clrIdx="0"/>
  <p:cmAuthor id="213" name="未知用户56" initials="" lastIdx="1" clrIdx="0"/>
  <p:cmAuthor id="214" name="未知的使用者14" initials="" lastIdx="2" clrIdx="0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10010" initials="1" lastIdx="1" clrIdx="321"/>
  <p:cmAuthor id="323" name="ethel" initials="e" lastIdx="2" clrIdx="322"/>
  <p:cmAuthor id="324" name="liuying" initials="l" lastIdx="1" clrIdx="323"/>
  <p:cmAuthor id="325" name="修志超" initials="修" lastIdx="1" clrIdx="324"/>
  <p:cmAuthor id="326" name="MI" initials="M" lastIdx="1" clrIdx="325"/>
  <p:cmAuthor id="327" name="甄真" initials="甄" lastIdx="2" clrIdx="326"/>
  <p:cmAuthor id="328" name="琚超" initials="琚" lastIdx="1" clrIdx="327"/>
  <p:cmAuthor id="329" name="xul54" initials="x" lastIdx="1" clrIdx="328"/>
  <p:cmAuthor id="331" name="qianyp" initials="q" lastIdx="2" clrIdx="330"/>
  <p:cmAuthor id="332" name="Liu, Hongqing (NSB - CN/Shanghai)" initials="L" lastIdx="1" clrIdx="41"/>
  <p:cmAuthor id="333" name="汪亦超" initials="汪" lastIdx="1" clrIdx="332"/>
  <p:cmAuthor id="334" name="lll" initials="l" lastIdx="1" clrIdx="333"/>
  <p:cmAuthor id="335" name="未知用户189" initials="未" lastIdx="2" clrIdx="0"/>
  <p:cmAuthor id="287643681" name="殷格非" initials="殷" lastIdx="2" clrIdx="0"/>
  <p:cmAuthor id="336" name="Unknown User69" initials="U" lastIdx="8" clrIdx="0"/>
  <p:cmAuthor id="287643682" name="z r" initials="zr" lastIdx="5" clrIdx="12"/>
  <p:cmAuthor id="337" name="raymond luan" initials="r" lastIdx="0" clrIdx="0"/>
  <p:cmAuthor id="287643683" name="8310" initials="8" lastIdx="1" clrIdx="35"/>
  <p:cmAuthor id="338" name="tjlyj" initials="t" lastIdx="1" clrIdx="337"/>
  <p:cmAuthor id="287643684" name="Aqf" initials="A" lastIdx="1" clrIdx="36"/>
  <p:cmAuthor id="339" name="赵刚" initials="赵" lastIdx="1" clrIdx="325"/>
  <p:cmAuthor id="287643685" name="13709759491@139.com" initials="1" lastIdx="1" clrIdx="49"/>
  <p:cmAuthor id="691587970" name="小延魔法师" initials="小" lastIdx="1126286" clrIdx="0"/>
  <p:cmAuthor id="340" name="hqm-liuwp19" initials="h" lastIdx="1" clrIdx="339"/>
  <p:cmAuthor id="691587971" name="刘春杰10244342" initials="刘春杰10244342" lastIdx="1" clrIdx="41"/>
  <p:cmAuthor id="341" name="未知的使用者155" initials="未" lastIdx="1" clrIdx="0"/>
  <p:cmAuthor id="691587972" name="li hui" initials="lh" lastIdx="1" clrIdx="50"/>
  <p:cmAuthor id="342" name="李 剑峰" initials="李" lastIdx="5" clrIdx="23"/>
  <p:cmAuthor id="691587973" name="Gaofugui(Jiangsu,NPS)" initials="G" lastIdx="1" clrIdx="51"/>
  <p:cmAuthor id="383159678" name="FAN" initials="F" lastIdx="555744" clrIdx="0"/>
  <p:cmAuthor id="343" name="娜娅" initials="娜" lastIdx="2" clrIdx="342"/>
  <p:cmAuthor id="691587974" name="张磊" initials="张磊" lastIdx="2" clrIdx="52"/>
  <p:cmAuthor id="383159679" name="sunaoran" initials="s" lastIdx="2" clrIdx="3"/>
  <p:cmAuthor id="344" name="武晓红" initials="武" lastIdx="1" clrIdx="343"/>
  <p:cmAuthor id="691587975" name="junqing li" initials="jl" lastIdx="1" clrIdx="331"/>
  <p:cmAuthor id="345" name="仝德志" initials="仝" lastIdx="1" clrIdx="0"/>
  <p:cmAuthor id="691587976" name="liubin (AD)" initials="l(" lastIdx="1" clrIdx="511"/>
  <p:cmAuthor id="346" name="PC" initials="P" lastIdx="4" clrIdx="0"/>
  <p:cmAuthor id="691587977" name="张惠" initials="张" lastIdx="1" clrIdx="691587976"/>
  <p:cmAuthor id="347" name="李晓波" initials="李" lastIdx="1" clrIdx="346"/>
  <p:cmAuthor id="348" name="未知的使用者169" initials="未" lastIdx="1" clrIdx="0"/>
  <p:cmAuthor id="349" name="未知的使用者183" initials="未" lastIdx="5" clrIdx="1"/>
  <p:cmAuthor id="350" name="ChZ" initials="C" lastIdx="2" clrIdx="349"/>
  <p:cmAuthor id="351" name="王奎" initials="王" lastIdx="1" clrIdx="350"/>
  <p:cmAuthor id="352" name="EDY" initials="E" lastIdx="6" clrIdx="351"/>
  <p:cmAuthor id="353" name="封殊龙" initials="封" lastIdx="2" clrIdx="352"/>
  <p:cmAuthor id="354" name="未知的使用者162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HUAWEI" initials="H" lastIdx="2" clrIdx="366"/>
  <p:cmAuthor id="368" name="宁文文" initials="宁" lastIdx="1" clrIdx="367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的使用者148" initials="未" lastIdx="8" clrIdx="0"/>
  <p:cmAuthor id="377" name="未知的使用者149" initials="未" lastIdx="8" clrIdx="0"/>
  <p:cmAuthor id="379" name="刘云轩" initials="刘" lastIdx="1" clrIdx="0"/>
  <p:cmAuthor id="380" name="sharon" initials="s" lastIdx="1" clrIdx="84"/>
  <p:cmAuthor id="381" name="未知用户131" initials="未" lastIdx="1" clrIdx="2"/>
  <p:cmAuthor id="382" name="孔祥云" initials="孔" lastIdx="4" clrIdx="381"/>
  <p:cmAuthor id="383" name="未知的使用者194" initials="未" lastIdx="1" clrIdx="0"/>
  <p:cmAuthor id="384" name="未知用户134" initials="未" lastIdx="10" clrIdx="0"/>
  <p:cmAuthor id="385" name="未知用户135" initials="未" lastIdx="1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93" name="未知的使用者195" initials="未" lastIdx="1" clrIdx="1"/>
  <p:cmAuthor id="394" name="Unknown User27" initials="U" lastIdx="1" clrIdx="0"/>
  <p:cmAuthor id="395" name="未知的使用者196" initials="未" lastIdx="1" clrIdx="0"/>
  <p:cmAuthor id="396" name="未知的使用者222" initials="" lastIdx="5" clrIdx="1"/>
  <p:cmAuthor id="397" name="未知的使用者203" initials="未" lastIdx="1" clrIdx="0"/>
  <p:cmAuthor id="398" name="未知的使用者204" initials="未" lastIdx="1" clrIdx="0"/>
  <p:cmAuthor id="399" name="未知的使用者225" initials="" lastIdx="1" clrIdx="0"/>
  <p:cmAuthor id="401" name="Unknown User24" initials="U" lastIdx="1" clrIdx="0"/>
  <p:cmAuthor id="402" name="未知用户133" initials="未" lastIdx="1" clrIdx="0"/>
  <p:cmAuthor id="409" name="zhangbin" initials="z" lastIdx="6" clrIdx="0"/>
  <p:cmAuthor id="410" name="未知的使用者232" initials="" lastIdx="8" clrIdx="0"/>
  <p:cmAuthor id="412" name="未知用户330" initials="未" lastIdx="5" clrIdx="0"/>
  <p:cmAuthor id="413" name="Unknown User111" initials="U" lastIdx="1" clrIdx="0"/>
  <p:cmAuthor id="414" name="未知用户177" initials="未" lastIdx="2" clrIdx="0"/>
  <p:cmAuthor id="415" name="未知用户184" initials="未" lastIdx="1" clrIdx="1"/>
  <p:cmAuthor id="416" name="未知用户118" initials="未" lastIdx="1" clrIdx="0"/>
  <p:cmAuthor id="418" name="未知用户181" initials="未" lastIdx="2" clrIdx="0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2" name="未知用户193" initials="未" lastIdx="3" clrIdx="0"/>
  <p:cmAuthor id="423" name="未知用户194" initials="未" lastIdx="1" clrIdx="0"/>
  <p:cmAuthor id="424" name="未知用户187" initials="未" lastIdx="10" clrIdx="0"/>
  <p:cmAuthor id="425" name="Kent" initials="K" lastIdx="2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59" name="未知用户143" initials="未" lastIdx="1" clrIdx="0"/>
  <p:cmAuthor id="460" name="未知用户144" initials="未" lastIdx="1" clrIdx="0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65" name="未知用户157" initials="未" lastIdx="8" clrIdx="0"/>
  <p:cmAuthor id="466" name="未知用户158" initials="未" lastIdx="2" clrIdx="0"/>
  <p:cmAuthor id="467" name="未知用户159" initials="未" lastIdx="1" clrIdx="0"/>
  <p:cmAuthor id="468" name="未知用户160" initials="未" lastIdx="2" clrIdx="0"/>
  <p:cmAuthor id="469" name="未知用户168" initials="未" lastIdx="1" clrIdx="0"/>
  <p:cmAuthor id="470" name="順天" initials="順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2000" name="梁亚栋" initials="authorId_233440905" lastIdx="776053" clrIdx="0"/>
  <p:cmAuthor id="486" name="未知的使用者190" initials="未" lastIdx="1" clrIdx="1"/>
  <p:cmAuthor id="2001" name=" " initials="" lastIdx="1" clrIdx="6"/>
  <p:cmAuthor id="487" name="未知的使用者191" initials="未" lastIdx="1" clrIdx="0"/>
  <p:cmAuthor id="2002" name="mu zi" initials="mz" lastIdx="6" clrIdx="22"/>
  <p:cmAuthor id="488" name="未知的使用者192" initials="未" lastIdx="1" clrIdx="0"/>
  <p:cmAuthor id="2003" name="Master 3L" initials="M3" lastIdx="1" clrIdx="26"/>
  <p:cmAuthor id="489" name="未知的使用者193" initials="未" lastIdx="2" clrIdx="0"/>
  <p:cmAuthor id="2004" name="范 斌" initials="范" lastIdx="1" clrIdx="36"/>
  <p:cmAuthor id="490" name="未知的使用者209" initials="未" lastIdx="8" clrIdx="0"/>
  <p:cmAuthor id="2005" name="毕邺" initials="党委办公室" lastIdx="2" clrIdx="37"/>
  <p:cmAuthor id="491" name="未知的使用者210" initials="未" lastIdx="1" clrIdx="0"/>
  <p:cmAuthor id="2006" name="jiaru tiger" initials="jt" lastIdx="2" clrIdx="38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09" name="未知的使用者132" initials="未" lastIdx="8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8535702" name="曾蓓/贝贝" initials="曾" lastIdx="0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543" name="未知的使用者258" initials="未" lastIdx="8" clrIdx="0"/>
  <p:cmAuthor id="544" name="未知的使用者259" initials="未" lastIdx="1" clrIdx="0"/>
  <p:cmAuthor id="545" name="未知的使用者260" initials="未" lastIdx="1" clrIdx="0"/>
  <p:cmAuthor id="546" name="未知的使用者261" initials="未" lastIdx="11" clrIdx="0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4" name="未知用户319" initials="未" lastIdx="1" clrIdx="0"/>
  <p:cmAuthor id="565" name="未知用户222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2" name="未知用户234" initials="未" lastIdx="7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210492765" name="施普希（菜菜）" initials="施" lastIdx="0" clrIdx="0"/>
  <p:cmAuthor id="589" name="未知用户295" initials="未" lastIdx="1" clrIdx="0"/>
  <p:cmAuthor id="210492766" name="yu 1" initials="y1" lastIdx="1" clrIdx="19"/>
  <p:cmAuthor id="590" name="未知用户297" initials="未" lastIdx="1" clrIdx="0"/>
  <p:cmAuthor id="210492767" name="李 嘉" initials="李" lastIdx="1" clrIdx="26"/>
  <p:cmAuthor id="591" name="panjm" initials="p" lastIdx="1" clrIdx="0"/>
  <p:cmAuthor id="210492768" name="gus9@chinaunicom.cn" initials="g" lastIdx="4" clrIdx="27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4" name="未知的使用者140" initials="未" lastIdx="1" clrIdx="1"/>
  <p:cmAuthor id="605" name="yudi lin" initials="y" lastIdx="0" clrIdx="0"/>
  <p:cmAuthor id="608" name="49554261@qq.com" initials="4" lastIdx="2" clrIdx="2"/>
  <p:cmAuthor id="610" name="未知用户215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5" name="Microsoft Office 用户" initials="M" lastIdx="25" clrIdx="3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2" name="林志强" initials="林" lastIdx="1" clrIdx="631"/>
  <p:cmAuthor id="633" name="Carol Kelly" initials="C" lastIdx="1" clrIdx="0"/>
  <p:cmAuthor id="634" name="马月" initials="马" lastIdx="1" clrIdx="633"/>
  <p:cmAuthor id="635" name="李苏薇" initials="李" lastIdx="1" clrIdx="634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姚翔" initials="姚" lastIdx="1" clrIdx="647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倪怡" initials="倪" lastIdx="1" clrIdx="658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未知用户216" initials="未" lastIdx="1" clrIdx="0"/>
  <p:cmAuthor id="674" name="孟连磊" initials="孟" lastIdx="1" clrIdx="0"/>
  <p:cmAuthor id="394525608" name="仇怿俊" initials="仇" lastIdx="0" clrIdx="0"/>
  <p:cmAuthor id="676" name="未知的使用者177" initials="未" lastIdx="8" clrIdx="0"/>
  <p:cmAuthor id="394525609" name="mei shuo" initials="mei shuo" lastIdx="1" clrIdx="24"/>
  <p:cmAuthor id="394525610" name="dengwanting" initials="d" lastIdx="1" clrIdx="50"/>
  <p:cmAuthor id="677" name="未知用户354" initials="未" lastIdx="1" clrIdx="0"/>
  <p:cmAuthor id="678" name="未知的使用者221" initials="未" lastIdx="1" clrIdx="0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1" name="璇 安" initials="璇" lastIdx="9" clrIdx="85"/>
  <p:cmAuthor id="47245819" name="群智集" initials="群" lastIdx="0" clrIdx="0"/>
  <p:cmAuthor id="692" name="未知用户214" initials="未" lastIdx="2" clrIdx="0"/>
  <p:cmAuthor id="47245820" name="郏 鹏" initials="郏" lastIdx="1" clrIdx="16"/>
  <p:cmAuthor id="693" name="lxm" initials="l" lastIdx="1" clrIdx="413"/>
  <p:cmAuthor id="47245821" name="郏鹏" initials="M" lastIdx="1" clrIdx="17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29922660" name="杨强" initials="杨" lastIdx="0" clrIdx="0"/>
  <p:cmAuthor id="721" name="wangxinhui" initials="w" lastIdx="1" clrIdx="0"/>
  <p:cmAuthor id="29922661" name="檀晟 陈" initials="檀晟" lastIdx="1" clrIdx="1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F5B482"/>
    <a:srgbClr val="FCE9EB"/>
    <a:srgbClr val="F4F8FC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1942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Relationship Id="rId15" Type="http://schemas.openxmlformats.org/officeDocument/2006/relationships/tags" Target="tags/tag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Arial Unicode MS" panose="020B0604020202020204" charset="-122"/>
                <a:cs typeface="Times New Roman" panose="02020503050405090304" pitchFamily="18" charset="0"/>
              </a:rPr>
            </a:fld>
            <a:endParaRPr lang="zh-CN" altLang="en-US" sz="1400" b="0" kern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446" y="0"/>
            <a:ext cx="1000503" cy="633803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9124488" y="18661"/>
            <a:ext cx="1250461" cy="7091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Arial Unicode MS" panose="020B0604020202020204" charset="-122"/>
                <a:cs typeface="Times New Roman" panose="02020503050405090304" pitchFamily="18" charset="0"/>
              </a:rPr>
            </a:fld>
            <a:endParaRPr lang="zh-CN" altLang="en-US" sz="1400" b="0" kern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446" y="0"/>
            <a:ext cx="1000503" cy="633803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124488" y="18661"/>
            <a:ext cx="1250461" cy="7091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联通版-分隔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4673"/>
            <a:ext cx="12306062" cy="6907346"/>
            <a:chOff x="0" y="-24673"/>
            <a:chExt cx="12306062" cy="6907346"/>
          </a:xfrm>
        </p:grpSpPr>
        <p:pic>
          <p:nvPicPr>
            <p:cNvPr id="7" name="Picture 2"/>
            <p:cNvPicPr>
              <a:picLocks noChangeAspect="1"/>
            </p:cNvPicPr>
            <p:nvPr userDrawn="1"/>
          </p:nvPicPr>
          <p:blipFill rotWithShape="1">
            <a:blip r:embed="rId2"/>
            <a:srcRect l="3952" t="11446" b="11445"/>
            <a:stretch>
              <a:fillRect/>
            </a:stretch>
          </p:blipFill>
          <p:spPr>
            <a:xfrm>
              <a:off x="0" y="-24673"/>
              <a:ext cx="9173818" cy="6907346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 userDrawn="1"/>
          </p:nvSpPr>
          <p:spPr>
            <a:xfrm>
              <a:off x="9006808" y="-1"/>
              <a:ext cx="3299254" cy="6882673"/>
            </a:xfrm>
            <a:prstGeom prst="rect">
              <a:avLst/>
            </a:prstGeom>
            <a:solidFill>
              <a:srgbClr val="F1EB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68400" y="1812930"/>
            <a:ext cx="10515600" cy="1325563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3200" baseline="0"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168400" y="3333717"/>
            <a:ext cx="10515600" cy="277584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部分标题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ags" Target="../tags/tag57.xml"/><Relationship Id="rId16" Type="http://schemas.openxmlformats.org/officeDocument/2006/relationships/tags" Target="../tags/tag58.xml"/><Relationship Id="rId17" Type="http://schemas.openxmlformats.org/officeDocument/2006/relationships/tags" Target="../tags/tag59.xml"/><Relationship Id="rId18" Type="http://schemas.openxmlformats.org/officeDocument/2006/relationships/tags" Target="../tags/tag60.xml"/><Relationship Id="rId19" Type="http://schemas.openxmlformats.org/officeDocument/2006/relationships/tags" Target="../tags/tag61.xml"/><Relationship Id="rId20" Type="http://schemas.openxmlformats.org/officeDocument/2006/relationships/tags" Target="../tags/tag62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7013" y="152028"/>
            <a:ext cx="368567" cy="4243767"/>
            <a:chOff x="-712674" y="221039"/>
            <a:chExt cx="596841" cy="6303760"/>
          </a:xfrm>
        </p:grpSpPr>
        <p:sp>
          <p:nvSpPr>
            <p:cNvPr id="8" name="矩形 7"/>
            <p:cNvSpPr/>
            <p:nvPr userDrawn="1"/>
          </p:nvSpPr>
          <p:spPr>
            <a:xfrm>
              <a:off x="-703385" y="736855"/>
              <a:ext cx="539263" cy="515816"/>
            </a:xfrm>
            <a:prstGeom prst="rect">
              <a:avLst/>
            </a:prstGeom>
            <a:solidFill>
              <a:srgbClr val="E50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-703385" y="221039"/>
              <a:ext cx="539263" cy="515816"/>
            </a:xfrm>
            <a:prstGeom prst="rect">
              <a:avLst/>
            </a:prstGeom>
            <a:solidFill>
              <a:srgbClr val="01B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-698542" y="1333986"/>
              <a:ext cx="539263" cy="515816"/>
            </a:xfrm>
            <a:prstGeom prst="rect">
              <a:avLst/>
            </a:prstGeom>
            <a:solidFill>
              <a:srgbClr val="2A7F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-705606" y="1842972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主色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-698542" y="2208116"/>
              <a:ext cx="539263" cy="515816"/>
            </a:xfrm>
            <a:prstGeom prst="rect">
              <a:avLst/>
            </a:prstGeom>
            <a:solidFill>
              <a:srgbClr val="015D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-705607" y="2709729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辅色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-698542" y="3082246"/>
              <a:ext cx="539263" cy="515816"/>
            </a:xfrm>
            <a:prstGeom prst="rect">
              <a:avLst/>
            </a:prstGeom>
            <a:solidFill>
              <a:srgbClr val="FCB5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-705609" y="3593000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强调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-698542" y="3960457"/>
              <a:ext cx="539263" cy="515816"/>
            </a:xfrm>
            <a:prstGeom prst="rect">
              <a:avLst/>
            </a:prstGeom>
            <a:solidFill>
              <a:srgbClr val="CDB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7" name="文本框 16"/>
            <p:cNvSpPr txBox="1"/>
            <p:nvPr userDrawn="1"/>
          </p:nvSpPr>
          <p:spPr>
            <a:xfrm>
              <a:off x="-705609" y="4471213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-705608" y="4838668"/>
              <a:ext cx="539263" cy="515816"/>
            </a:xfrm>
            <a:prstGeom prst="rect">
              <a:avLst/>
            </a:prstGeom>
            <a:solidFill>
              <a:srgbClr val="B284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9" name="文本框 18"/>
            <p:cNvSpPr txBox="1"/>
            <p:nvPr userDrawn="1"/>
          </p:nvSpPr>
          <p:spPr>
            <a:xfrm>
              <a:off x="-712674" y="5349423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-705608" y="5716879"/>
              <a:ext cx="539263" cy="515816"/>
            </a:xfrm>
            <a:prstGeom prst="rect">
              <a:avLst/>
            </a:prstGeom>
            <a:solidFill>
              <a:srgbClr val="A1C8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-712674" y="6227634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</p:grp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ic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548640"/>
            <a:ext cx="3406140" cy="1002313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510589" y="2656332"/>
            <a:ext cx="0" cy="2994660"/>
          </a:xfrm>
          <a:prstGeom prst="line">
            <a:avLst/>
          </a:prstGeom>
          <a:ln w="57150" cmpd="thinThick">
            <a:solidFill>
              <a:srgbClr val="EE000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810512" y="2633472"/>
            <a:ext cx="9966960" cy="83591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5000"/>
              </a:lnSpc>
              <a:buNone/>
            </a:pPr>
            <a:r>
              <a:rPr lang="zh-CN" altLang="en-US" sz="4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经营管理数字化建设汇报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1810512" y="3542538"/>
            <a:ext cx="996696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体系建设 · 专项攻坚 · 数据赋能（示例）</a:t>
            </a:r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892808" y="4745736"/>
            <a:ext cx="822960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示例分公司</a:t>
            </a:r>
            <a:endParaRPr sz="2200"/>
          </a:p>
        </p:txBody>
      </p:sp>
      <p:sp>
        <p:nvSpPr>
          <p:cNvPr id="7" name="TextBox 6"/>
          <p:cNvSpPr txBox="1"/>
          <p:nvPr/>
        </p:nvSpPr>
        <p:spPr>
          <a:xfrm>
            <a:off x="1892808" y="5175504"/>
            <a:ext cx="822960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2025年10月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一、薪酬激励一体化平台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7376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7376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737616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依托</a:t>
            </a: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人力、财务、经分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三大系统数据，建设</a:t>
            </a: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薪酬激励一体化平台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，打通「指标—考核—薪酬—分析」全链条，实现激励规则</a:t>
            </a: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线上配置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、薪酬结果</a:t>
            </a: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自动核算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、激励效果</a:t>
            </a: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按月评价</a:t>
            </a:r>
            <a:endParaRPr sz="1400"/>
          </a:p>
        </p:txBody>
      </p:sp>
      <p:sp>
        <p:nvSpPr>
          <p:cNvPr id="6" name="TextBox 5"/>
          <p:cNvSpPr txBox="1"/>
          <p:nvPr/>
        </p:nvSpPr>
        <p:spPr>
          <a:xfrm>
            <a:off x="274320" y="1862328"/>
            <a:ext cx="2772918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基础支撑</a:t>
            </a:r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3321558" y="1862328"/>
            <a:ext cx="5545836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平台架构</a:t>
            </a:r>
            <a:endParaRPr sz="1500"/>
          </a:p>
        </p:txBody>
      </p:sp>
      <p:sp>
        <p:nvSpPr>
          <p:cNvPr id="8" name="TextBox 7"/>
          <p:cNvSpPr txBox="1"/>
          <p:nvPr/>
        </p:nvSpPr>
        <p:spPr>
          <a:xfrm>
            <a:off x="9141714" y="1862328"/>
            <a:ext cx="2772918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业务价值</a:t>
            </a:r>
            <a:endParaRPr sz="1500"/>
          </a:p>
        </p:txBody>
      </p:sp>
      <p:sp>
        <p:nvSpPr>
          <p:cNvPr id="9" name="Rectangle 8"/>
          <p:cNvSpPr/>
          <p:nvPr/>
        </p:nvSpPr>
        <p:spPr>
          <a:xfrm>
            <a:off x="274320" y="2292858"/>
            <a:ext cx="2772918" cy="1232154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92858"/>
            <a:ext cx="2772918" cy="384048"/>
          </a:xfrm>
          <a:prstGeom prst="rect">
            <a:avLst/>
          </a:prstGeom>
          <a:solidFill>
            <a:srgbClr val="F4C7C7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人力资源系统</a:t>
            </a:r>
            <a:endParaRPr sz="1300"/>
          </a:p>
        </p:txBody>
      </p:sp>
      <p:sp>
        <p:nvSpPr>
          <p:cNvPr id="11" name="TextBox 10"/>
          <p:cNvSpPr txBox="1"/>
          <p:nvPr/>
        </p:nvSpPr>
        <p:spPr>
          <a:xfrm>
            <a:off x="320040" y="2731770"/>
            <a:ext cx="2681478" cy="7566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组织架构、岗位序列、人员档案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数据按日同步</a:t>
            </a:r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274320" y="3662172"/>
            <a:ext cx="2772918" cy="1232154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662172"/>
            <a:ext cx="2772918" cy="384048"/>
          </a:xfrm>
          <a:prstGeom prst="rect">
            <a:avLst/>
          </a:prstGeom>
          <a:solidFill>
            <a:srgbClr val="F4C7C7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财务系统</a:t>
            </a:r>
            <a:endParaRPr sz="1300"/>
          </a:p>
        </p:txBody>
      </p:sp>
      <p:sp>
        <p:nvSpPr>
          <p:cNvPr id="14" name="TextBox 13"/>
          <p:cNvSpPr txBox="1"/>
          <p:nvPr/>
        </p:nvSpPr>
        <p:spPr>
          <a:xfrm>
            <a:off x="320040" y="4101084"/>
            <a:ext cx="2681478" cy="7566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薪酬总额、成本中心、发放台账</a:t>
            </a:r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274320" y="5031486"/>
            <a:ext cx="2772918" cy="1232154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031486"/>
            <a:ext cx="2772918" cy="384048"/>
          </a:xfrm>
          <a:prstGeom prst="rect">
            <a:avLst/>
          </a:prstGeom>
          <a:solidFill>
            <a:srgbClr val="F4C7C7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经营分析系统</a:t>
            </a:r>
            <a:endParaRPr sz="1300"/>
          </a:p>
        </p:txBody>
      </p:sp>
      <p:sp>
        <p:nvSpPr>
          <p:cNvPr id="17" name="TextBox 16"/>
          <p:cNvSpPr txBox="1"/>
          <p:nvPr/>
        </p:nvSpPr>
        <p:spPr>
          <a:xfrm>
            <a:off x="320040" y="5470398"/>
            <a:ext cx="2681478" cy="7566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收入、用户、业务量等考核指标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数据按月抽取</a:t>
            </a:r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3321558" y="2292858"/>
            <a:ext cx="5545836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薪酬激励一体化平台</a:t>
            </a:r>
            <a:endParaRPr sz="1400"/>
          </a:p>
        </p:txBody>
      </p:sp>
      <p:sp>
        <p:nvSpPr>
          <p:cNvPr id="19" name="Rectangle 18"/>
          <p:cNvSpPr/>
          <p:nvPr/>
        </p:nvSpPr>
        <p:spPr>
          <a:xfrm>
            <a:off x="3321558" y="2795778"/>
            <a:ext cx="868680" cy="53995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服务对象</a:t>
            </a:r>
            <a:endParaRPr sz="1100"/>
          </a:p>
        </p:txBody>
      </p:sp>
      <p:sp>
        <p:nvSpPr>
          <p:cNvPr id="20" name="Rounded Rectangle 19"/>
          <p:cNvSpPr/>
          <p:nvPr/>
        </p:nvSpPr>
        <p:spPr>
          <a:xfrm>
            <a:off x="4281678" y="2868930"/>
            <a:ext cx="1064133" cy="3936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省公司管理层</a:t>
            </a:r>
            <a:endParaRPr sz="1100"/>
          </a:p>
        </p:txBody>
      </p:sp>
      <p:sp>
        <p:nvSpPr>
          <p:cNvPr id="21" name="Rounded Rectangle 20"/>
          <p:cNvSpPr/>
          <p:nvPr/>
        </p:nvSpPr>
        <p:spPr>
          <a:xfrm>
            <a:off x="5455539" y="2868930"/>
            <a:ext cx="1064133" cy="3936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地市人力部门</a:t>
            </a:r>
            <a:endParaRPr sz="1100"/>
          </a:p>
        </p:txBody>
      </p:sp>
      <p:sp>
        <p:nvSpPr>
          <p:cNvPr id="22" name="Rounded Rectangle 21"/>
          <p:cNvSpPr/>
          <p:nvPr/>
        </p:nvSpPr>
        <p:spPr>
          <a:xfrm>
            <a:off x="6629400" y="2868930"/>
            <a:ext cx="1064133" cy="3936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区县/网格长</a:t>
            </a:r>
            <a:endParaRPr sz="1100"/>
          </a:p>
        </p:txBody>
      </p:sp>
      <p:sp>
        <p:nvSpPr>
          <p:cNvPr id="23" name="Rounded Rectangle 22"/>
          <p:cNvSpPr/>
          <p:nvPr/>
        </p:nvSpPr>
        <p:spPr>
          <a:xfrm>
            <a:off x="7803261" y="2868930"/>
            <a:ext cx="1064133" cy="3936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一线员工</a:t>
            </a:r>
            <a:endParaRPr sz="1100"/>
          </a:p>
        </p:txBody>
      </p:sp>
      <p:cxnSp>
        <p:nvCxnSpPr>
          <p:cNvPr id="24" name="Connector 23"/>
          <p:cNvCxnSpPr/>
          <p:nvPr/>
        </p:nvCxnSpPr>
        <p:spPr>
          <a:xfrm flipV="1">
            <a:off x="6574536" y="3262579"/>
            <a:ext cx="0" cy="45720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6629400" y="3381197"/>
            <a:ext cx="617728" cy="219964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服务支撑</a:t>
            </a:r>
            <a:endParaRPr sz="1000"/>
          </a:p>
        </p:txBody>
      </p:sp>
      <p:sp>
        <p:nvSpPr>
          <p:cNvPr id="26" name="Rectangle 25"/>
          <p:cNvSpPr/>
          <p:nvPr/>
        </p:nvSpPr>
        <p:spPr>
          <a:xfrm>
            <a:off x="3321558" y="3719779"/>
            <a:ext cx="868680" cy="143987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核心能力</a:t>
            </a:r>
            <a:endParaRPr sz="1100"/>
          </a:p>
        </p:txBody>
      </p:sp>
      <p:sp>
        <p:nvSpPr>
          <p:cNvPr id="27" name="Rectangle 26"/>
          <p:cNvSpPr/>
          <p:nvPr/>
        </p:nvSpPr>
        <p:spPr>
          <a:xfrm>
            <a:off x="4281678" y="3719779"/>
            <a:ext cx="1437132" cy="1439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1678" y="3774643"/>
            <a:ext cx="1437132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考核指标管理</a:t>
            </a:r>
            <a:endParaRPr sz="1300"/>
          </a:p>
        </p:txBody>
      </p:sp>
      <p:cxnSp>
        <p:nvCxnSpPr>
          <p:cNvPr id="29" name="Connector 28"/>
          <p:cNvCxnSpPr/>
          <p:nvPr/>
        </p:nvCxnSpPr>
        <p:spPr>
          <a:xfrm>
            <a:off x="4418838" y="4131259"/>
            <a:ext cx="1162812" cy="0"/>
          </a:xfrm>
          <a:prstGeom prst="line">
            <a:avLst/>
          </a:prstGeom>
          <a:ln w="12700">
            <a:solidFill>
              <a:srgbClr val="F4C7C7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281678" y="4176979"/>
            <a:ext cx="1437132" cy="9369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指标库配置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目标分解下达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权重动态调整</a:t>
            </a:r>
            <a:endParaRPr sz="1200"/>
          </a:p>
        </p:txBody>
      </p:sp>
      <p:sp>
        <p:nvSpPr>
          <p:cNvPr id="31" name="Rectangle 30"/>
          <p:cNvSpPr/>
          <p:nvPr/>
        </p:nvSpPr>
        <p:spPr>
          <a:xfrm>
            <a:off x="5855970" y="3719779"/>
            <a:ext cx="1437132" cy="1439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5970" y="3774643"/>
            <a:ext cx="1437132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薪酬测算发放</a:t>
            </a:r>
            <a:endParaRPr sz="1300"/>
          </a:p>
        </p:txBody>
      </p:sp>
      <p:cxnSp>
        <p:nvCxnSpPr>
          <p:cNvPr id="33" name="Connector 32"/>
          <p:cNvCxnSpPr/>
          <p:nvPr/>
        </p:nvCxnSpPr>
        <p:spPr>
          <a:xfrm>
            <a:off x="5993130" y="4131259"/>
            <a:ext cx="1162812" cy="0"/>
          </a:xfrm>
          <a:prstGeom prst="line">
            <a:avLst/>
          </a:prstGeom>
          <a:ln w="12700">
            <a:solidFill>
              <a:srgbClr val="F4C7C7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855970" y="4176979"/>
            <a:ext cx="1437132" cy="9369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绩效自动核算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薪酬模拟测算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发放校验留痕</a:t>
            </a:r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7430262" y="3719779"/>
            <a:ext cx="1437132" cy="1439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30262" y="3774643"/>
            <a:ext cx="1437132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激励效果分析</a:t>
            </a:r>
            <a:endParaRPr sz="1300"/>
          </a:p>
        </p:txBody>
      </p:sp>
      <p:cxnSp>
        <p:nvCxnSpPr>
          <p:cNvPr id="37" name="Connector 36"/>
          <p:cNvCxnSpPr/>
          <p:nvPr/>
        </p:nvCxnSpPr>
        <p:spPr>
          <a:xfrm>
            <a:off x="7567422" y="4131259"/>
            <a:ext cx="1162812" cy="0"/>
          </a:xfrm>
          <a:prstGeom prst="line">
            <a:avLst/>
          </a:prstGeom>
          <a:ln w="12700">
            <a:solidFill>
              <a:srgbClr val="F4C7C7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7430262" y="4176979"/>
            <a:ext cx="1437132" cy="9369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激励投入产出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异常波动预警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人均效能对标</a:t>
            </a:r>
            <a:endParaRPr sz="1200"/>
          </a:p>
        </p:txBody>
      </p:sp>
      <p:cxnSp>
        <p:nvCxnSpPr>
          <p:cNvPr id="39" name="Connector 38"/>
          <p:cNvCxnSpPr/>
          <p:nvPr/>
        </p:nvCxnSpPr>
        <p:spPr>
          <a:xfrm>
            <a:off x="5718810" y="4668317"/>
            <a:ext cx="137160" cy="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7293102" y="4668317"/>
            <a:ext cx="137160" cy="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 flipV="1">
            <a:off x="6574536" y="5159654"/>
            <a:ext cx="0" cy="384048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6629400" y="5241696"/>
            <a:ext cx="617728" cy="219964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数据支撑</a:t>
            </a:r>
            <a:endParaRPr sz="1000"/>
          </a:p>
        </p:txBody>
      </p:sp>
      <p:sp>
        <p:nvSpPr>
          <p:cNvPr id="43" name="Rectangle 42"/>
          <p:cNvSpPr/>
          <p:nvPr/>
        </p:nvSpPr>
        <p:spPr>
          <a:xfrm>
            <a:off x="3321558" y="5543702"/>
            <a:ext cx="868680" cy="71993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数据底座</a:t>
            </a:r>
            <a:endParaRPr sz="1100"/>
          </a:p>
        </p:txBody>
      </p:sp>
      <p:sp>
        <p:nvSpPr>
          <p:cNvPr id="44" name="Rectangle 43"/>
          <p:cNvSpPr/>
          <p:nvPr/>
        </p:nvSpPr>
        <p:spPr>
          <a:xfrm>
            <a:off x="4281678" y="5543702"/>
            <a:ext cx="4585716" cy="719938"/>
          </a:xfrm>
          <a:prstGeom prst="rect">
            <a:avLst/>
          </a:prstGeom>
          <a:solidFill>
            <a:srgbClr val="F1EBE9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91406" y="5635142"/>
            <a:ext cx="1009269" cy="537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组织信息</a:t>
            </a:r>
            <a:endParaRPr sz="1200"/>
          </a:p>
        </p:txBody>
      </p:sp>
      <p:sp>
        <p:nvSpPr>
          <p:cNvPr id="46" name="Rectangle 45"/>
          <p:cNvSpPr/>
          <p:nvPr/>
        </p:nvSpPr>
        <p:spPr>
          <a:xfrm>
            <a:off x="5510403" y="5635142"/>
            <a:ext cx="1009269" cy="537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人员信息</a:t>
            </a:r>
            <a:endParaRPr sz="1200"/>
          </a:p>
        </p:txBody>
      </p:sp>
      <p:sp>
        <p:nvSpPr>
          <p:cNvPr id="47" name="Rectangle 46"/>
          <p:cNvSpPr/>
          <p:nvPr/>
        </p:nvSpPr>
        <p:spPr>
          <a:xfrm>
            <a:off x="6629400" y="5635142"/>
            <a:ext cx="1009269" cy="537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考核指标</a:t>
            </a:r>
            <a:endParaRPr sz="1200"/>
          </a:p>
        </p:txBody>
      </p:sp>
      <p:sp>
        <p:nvSpPr>
          <p:cNvPr id="48" name="Rectangle 47"/>
          <p:cNvSpPr/>
          <p:nvPr/>
        </p:nvSpPr>
        <p:spPr>
          <a:xfrm>
            <a:off x="7748397" y="5635142"/>
            <a:ext cx="1009269" cy="537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薪酬规则</a:t>
            </a:r>
            <a:endParaRPr sz="1200"/>
          </a:p>
        </p:txBody>
      </p:sp>
      <p:sp>
        <p:nvSpPr>
          <p:cNvPr id="49" name="Oval 48"/>
          <p:cNvSpPr/>
          <p:nvPr/>
        </p:nvSpPr>
        <p:spPr>
          <a:xfrm>
            <a:off x="9141714" y="238429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00"/>
          </a:p>
        </p:txBody>
      </p:sp>
      <p:sp>
        <p:nvSpPr>
          <p:cNvPr id="50" name="TextBox 49"/>
          <p:cNvSpPr txBox="1"/>
          <p:nvPr/>
        </p:nvSpPr>
        <p:spPr>
          <a:xfrm>
            <a:off x="9598914" y="2366010"/>
            <a:ext cx="2315718" cy="40233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规则透明</a:t>
            </a:r>
            <a:endParaRPr sz="1500"/>
          </a:p>
        </p:txBody>
      </p:sp>
      <p:sp>
        <p:nvSpPr>
          <p:cNvPr id="51" name="TextBox 50"/>
          <p:cNvSpPr txBox="1"/>
          <p:nvPr/>
        </p:nvSpPr>
        <p:spPr>
          <a:xfrm>
            <a:off x="9598914" y="2795778"/>
            <a:ext cx="2315718" cy="7292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考核与薪酬规则线上公示，员工可查可算，减少口径争议</a:t>
            </a:r>
            <a:endParaRPr sz="1200"/>
          </a:p>
        </p:txBody>
      </p:sp>
      <p:cxnSp>
        <p:nvCxnSpPr>
          <p:cNvPr id="52" name="Connector 51"/>
          <p:cNvCxnSpPr/>
          <p:nvPr/>
        </p:nvCxnSpPr>
        <p:spPr>
          <a:xfrm>
            <a:off x="9141714" y="3616452"/>
            <a:ext cx="2772918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</p:cxnSp>
      <p:sp>
        <p:nvSpPr>
          <p:cNvPr id="53" name="Oval 52"/>
          <p:cNvSpPr/>
          <p:nvPr/>
        </p:nvSpPr>
        <p:spPr>
          <a:xfrm>
            <a:off x="9141714" y="370789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00"/>
          </a:p>
        </p:txBody>
      </p:sp>
      <p:sp>
        <p:nvSpPr>
          <p:cNvPr id="54" name="TextBox 53"/>
          <p:cNvSpPr txBox="1"/>
          <p:nvPr/>
        </p:nvSpPr>
        <p:spPr>
          <a:xfrm>
            <a:off x="9598914" y="3689604"/>
            <a:ext cx="2315718" cy="40233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核算提效</a:t>
            </a:r>
            <a:endParaRPr sz="1500"/>
          </a:p>
        </p:txBody>
      </p:sp>
      <p:sp>
        <p:nvSpPr>
          <p:cNvPr id="55" name="TextBox 54"/>
          <p:cNvSpPr txBox="1"/>
          <p:nvPr/>
        </p:nvSpPr>
        <p:spPr>
          <a:xfrm>
            <a:off x="9598914" y="4119372"/>
            <a:ext cx="2315718" cy="7292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月度薪酬核算由人工汇总改为系统自动生成，减少跨系统取数</a:t>
            </a:r>
            <a:endParaRPr sz="1200"/>
          </a:p>
        </p:txBody>
      </p:sp>
      <p:cxnSp>
        <p:nvCxnSpPr>
          <p:cNvPr id="56" name="Connector 55"/>
          <p:cNvCxnSpPr/>
          <p:nvPr/>
        </p:nvCxnSpPr>
        <p:spPr>
          <a:xfrm>
            <a:off x="9141714" y="4940046"/>
            <a:ext cx="2772918" cy="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</p:cxnSp>
      <p:sp>
        <p:nvSpPr>
          <p:cNvPr id="57" name="Oval 56"/>
          <p:cNvSpPr/>
          <p:nvPr/>
        </p:nvSpPr>
        <p:spPr>
          <a:xfrm>
            <a:off x="9141714" y="5031486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00"/>
          </a:p>
        </p:txBody>
      </p:sp>
      <p:sp>
        <p:nvSpPr>
          <p:cNvPr id="58" name="TextBox 57"/>
          <p:cNvSpPr txBox="1"/>
          <p:nvPr/>
        </p:nvSpPr>
        <p:spPr>
          <a:xfrm>
            <a:off x="9598914" y="5013198"/>
            <a:ext cx="2315718" cy="40233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激励精准</a:t>
            </a:r>
            <a:endParaRPr sz="1500"/>
          </a:p>
        </p:txBody>
      </p:sp>
      <p:sp>
        <p:nvSpPr>
          <p:cNvPr id="59" name="TextBox 58"/>
          <p:cNvSpPr txBox="1"/>
          <p:nvPr/>
        </p:nvSpPr>
        <p:spPr>
          <a:xfrm>
            <a:off x="9598914" y="5442966"/>
            <a:ext cx="2315718" cy="7292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按投入产出评价激励效果，资源向高效能团队倾斜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二、存量宽带融合迁转专项攻坚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43000" cy="7498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现状和问题</a:t>
            </a:r>
            <a:endParaRPr sz="1300"/>
          </a:p>
        </p:txBody>
      </p:sp>
      <p:sp>
        <p:nvSpPr>
          <p:cNvPr id="4" name="Rectangle 3"/>
          <p:cNvSpPr/>
          <p:nvPr/>
        </p:nvSpPr>
        <p:spPr>
          <a:xfrm>
            <a:off x="1417320" y="960120"/>
            <a:ext cx="4539996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单宽带用户占比偏高，融合率低于全省平均，到期拆机风险集中；现有套餐与家庭多成员需求</a:t>
            </a: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不匹配</a:t>
            </a: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6231636" y="960120"/>
            <a:ext cx="1143000" cy="7498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解决措施</a:t>
            </a:r>
            <a:endParaRPr sz="1300"/>
          </a:p>
        </p:txBody>
      </p:sp>
      <p:sp>
        <p:nvSpPr>
          <p:cNvPr id="6" name="Rectangle 5"/>
          <p:cNvSpPr/>
          <p:nvPr/>
        </p:nvSpPr>
        <p:spPr>
          <a:xfrm>
            <a:off x="7374636" y="960120"/>
            <a:ext cx="4539996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面向</a:t>
            </a: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三类存量客群</a:t>
            </a: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分群施策，以家庭融合升级为主线，四季度融合迁转</a:t>
            </a:r>
            <a:r>
              <a:rPr lang="zh-CN" altLang="en-US"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6.2万户</a:t>
            </a: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274320" y="1938528"/>
            <a:ext cx="1822786" cy="3291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目标客群（规模）</a:t>
            </a:r>
            <a:endParaRPr sz="1200"/>
          </a:p>
        </p:txBody>
      </p:sp>
      <p:sp>
        <p:nvSpPr>
          <p:cNvPr id="8" name="Rectangle 7"/>
          <p:cNvSpPr/>
          <p:nvPr/>
        </p:nvSpPr>
        <p:spPr>
          <a:xfrm>
            <a:off x="2371426" y="1938528"/>
            <a:ext cx="2154201" cy="3291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分群条件 / 策略</a:t>
            </a: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4799947" y="1938528"/>
            <a:ext cx="1905640" cy="3291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迁转方案</a:t>
            </a:r>
            <a:endParaRPr sz="1200"/>
          </a:p>
        </p:txBody>
      </p:sp>
      <p:sp>
        <p:nvSpPr>
          <p:cNvPr id="10" name="Rectangle 9"/>
          <p:cNvSpPr/>
          <p:nvPr/>
        </p:nvSpPr>
        <p:spPr>
          <a:xfrm>
            <a:off x="6979906" y="1938528"/>
            <a:ext cx="1077101" cy="3291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四季度目标</a:t>
            </a: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274320" y="2395728"/>
            <a:ext cx="1822786" cy="694944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单宽带用户</a:t>
            </a:r>
            <a:endParaRPr sz="12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32.6万户</a:t>
            </a:r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2371426" y="2395728"/>
            <a:ext cx="2154201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有移动需求、在网≥12个月</a:t>
            </a:r>
            <a:endParaRPr sz="1200"/>
          </a:p>
        </p:txBody>
      </p:sp>
      <p:sp>
        <p:nvSpPr>
          <p:cNvPr id="13" name="Rectangle 12"/>
          <p:cNvSpPr/>
          <p:nvPr/>
        </p:nvSpPr>
        <p:spPr>
          <a:xfrm>
            <a:off x="4799947" y="2395728"/>
            <a:ext cx="1905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宽带+移动融合入网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6979906" y="2395728"/>
            <a:ext cx="1077101" cy="69494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3.0万户</a:t>
            </a:r>
            <a:endParaRPr sz="1400"/>
          </a:p>
        </p:txBody>
      </p:sp>
      <p:cxnSp>
        <p:nvCxnSpPr>
          <p:cNvPr id="15" name="Connector 14"/>
          <p:cNvCxnSpPr/>
          <p:nvPr/>
        </p:nvCxnSpPr>
        <p:spPr>
          <a:xfrm>
            <a:off x="2097106" y="2743200"/>
            <a:ext cx="274320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4525627" y="2743200"/>
            <a:ext cx="274320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274320" y="3182112"/>
            <a:ext cx="1822786" cy="694944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低值融合用户</a:t>
            </a:r>
            <a:endParaRPr sz="12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18.4万户</a:t>
            </a:r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2371426" y="3182112"/>
            <a:ext cx="2154201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套餐档位低、流量饱和度高</a:t>
            </a:r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4799947" y="3182112"/>
            <a:ext cx="1905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融合套餐升档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6979906" y="3182112"/>
            <a:ext cx="1077101" cy="69494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2.2万户</a:t>
            </a:r>
            <a:endParaRPr sz="1400"/>
          </a:p>
        </p:txBody>
      </p:sp>
      <p:cxnSp>
        <p:nvCxnSpPr>
          <p:cNvPr id="21" name="Connector 20"/>
          <p:cNvCxnSpPr/>
          <p:nvPr/>
        </p:nvCxnSpPr>
        <p:spPr>
          <a:xfrm>
            <a:off x="2097106" y="3529584"/>
            <a:ext cx="274320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>
            <a:off x="4525627" y="3529584"/>
            <a:ext cx="274320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274320" y="3968496"/>
            <a:ext cx="1822786" cy="694944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家庭成员异网</a:t>
            </a:r>
            <a:endParaRPr sz="12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9.8万户</a:t>
            </a:r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2371426" y="3968496"/>
            <a:ext cx="2154201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宽带家庭内有异网成员</a:t>
            </a:r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4799947" y="3968496"/>
            <a:ext cx="1905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家庭共享副卡</a:t>
            </a:r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6979906" y="3968496"/>
            <a:ext cx="1077101" cy="69494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1.0万户</a:t>
            </a:r>
            <a:endParaRPr sz="1400"/>
          </a:p>
        </p:txBody>
      </p:sp>
      <p:cxnSp>
        <p:nvCxnSpPr>
          <p:cNvPr id="27" name="Connector 26"/>
          <p:cNvCxnSpPr/>
          <p:nvPr/>
        </p:nvCxnSpPr>
        <p:spPr>
          <a:xfrm>
            <a:off x="2097106" y="4315968"/>
            <a:ext cx="274320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4525627" y="4315968"/>
            <a:ext cx="274320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8377047" y="1901952"/>
            <a:ext cx="3537585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重点方案</a:t>
            </a:r>
            <a:endParaRPr sz="1500"/>
          </a:p>
        </p:txBody>
      </p:sp>
      <p:sp>
        <p:nvSpPr>
          <p:cNvPr id="30" name="Rectangle 29"/>
          <p:cNvSpPr/>
          <p:nvPr/>
        </p:nvSpPr>
        <p:spPr>
          <a:xfrm>
            <a:off x="8377047" y="2322576"/>
            <a:ext cx="3537585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主推：家庭融合升级包</a:t>
            </a:r>
            <a:endParaRPr sz="1300"/>
          </a:p>
        </p:txBody>
      </p:sp>
      <p:sp>
        <p:nvSpPr>
          <p:cNvPr id="31" name="Rectangle 30"/>
          <p:cNvSpPr/>
          <p:nvPr/>
        </p:nvSpPr>
        <p:spPr>
          <a:xfrm>
            <a:off x="8377047" y="2706624"/>
            <a:ext cx="3537585" cy="1956816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t" wrap="square" lIns="146304" tIns="87782" rIns="146304" bIns="87782">
            <a:noAutofit/>
          </a:bodyPr>
          <a:lstStyle/>
          <a:p>
            <a:pPr algn="l"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lang="zh-CN" altLang="en-US" sz="12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适用对象：</a:t>
            </a:r>
            <a:r>
              <a:rPr lang="zh-CN" altLang="en-US"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单宽带及低值融合家庭</a:t>
            </a:r>
            <a:endParaRPr sz="1250"/>
          </a:p>
          <a:p>
            <a:pPr algn="l"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lang="zh-CN" altLang="en-US" sz="12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差异点：</a:t>
            </a:r>
            <a:r>
              <a:rPr lang="zh-CN" altLang="en-US"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宽带提速与家庭副卡打包，一次办理</a:t>
            </a:r>
            <a:endParaRPr sz="1250"/>
          </a:p>
          <a:p>
            <a:pPr algn="l"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lang="zh-CN" altLang="en-US" sz="12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预期作用：</a:t>
            </a:r>
            <a:r>
              <a:rPr lang="zh-CN" altLang="en-US"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提升融合率，降低到期拆机</a:t>
            </a:r>
            <a:endParaRPr sz="1250"/>
          </a:p>
          <a:p>
            <a:pPr algn="l"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lang="zh-CN" altLang="en-US" sz="125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（资费与权益以正式方案为准）</a:t>
            </a:r>
            <a:endParaRPr sz="1250"/>
          </a:p>
        </p:txBody>
      </p:sp>
      <p:sp>
        <p:nvSpPr>
          <p:cNvPr id="32" name="TextBox 31"/>
          <p:cNvSpPr txBox="1"/>
          <p:nvPr/>
        </p:nvSpPr>
        <p:spPr>
          <a:xfrm>
            <a:off x="274320" y="4846320"/>
            <a:ext cx="11640312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执行要点</a:t>
            </a:r>
            <a:endParaRPr sz="1500"/>
          </a:p>
        </p:txBody>
      </p:sp>
      <p:sp>
        <p:nvSpPr>
          <p:cNvPr id="33" name="Rectangle 32"/>
          <p:cNvSpPr/>
          <p:nvPr/>
        </p:nvSpPr>
        <p:spPr>
          <a:xfrm>
            <a:off x="274320" y="5248656"/>
            <a:ext cx="2772918" cy="10149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口径统一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统一客群清单与迁转口径，周更新</a:t>
            </a:r>
            <a:endParaRPr sz="1200"/>
          </a:p>
        </p:txBody>
      </p:sp>
      <p:sp>
        <p:nvSpPr>
          <p:cNvPr id="34" name="Rectangle 33"/>
          <p:cNvSpPr/>
          <p:nvPr/>
        </p:nvSpPr>
        <p:spPr>
          <a:xfrm>
            <a:off x="3230118" y="5248656"/>
            <a:ext cx="2772918" cy="10149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渠道执行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厅店、装维、外呼三渠道同步触达</a:t>
            </a:r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6185916" y="5248656"/>
            <a:ext cx="2772918" cy="10149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组织分工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市场部牵头，区县落实到网格</a:t>
            </a:r>
            <a:endParaRPr sz="1200"/>
          </a:p>
        </p:txBody>
      </p:sp>
      <p:sp>
        <p:nvSpPr>
          <p:cNvPr id="36" name="Rectangle 35"/>
          <p:cNvSpPr/>
          <p:nvPr/>
        </p:nvSpPr>
        <p:spPr>
          <a:xfrm>
            <a:off x="9141714" y="5248656"/>
            <a:ext cx="2772918" cy="10149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过程监测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日跟踪、周通报，落后网格专项督导</a:t>
            </a:r>
            <a:endParaRPr sz="1200"/>
          </a:p>
        </p:txBody>
      </p:sp>
      <p:sp>
        <p:nvSpPr>
          <p:cNvPr id="37" name="TextBox 36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注：客群规模与目标为示例数据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三、数据能力精准助销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754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75488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以</a:t>
            </a: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用户标签与预测模型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为基础，形成可配置的营销策略，下发至厅店、装维、外呼等一线场景，执行结果</a:t>
            </a: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按日回流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，驱动绩效核算与策略迭代</a:t>
            </a:r>
            <a:endParaRPr sz="1400"/>
          </a:p>
        </p:txBody>
      </p:sp>
      <p:sp>
        <p:nvSpPr>
          <p:cNvPr id="6" name="Pentagon 5"/>
          <p:cNvSpPr/>
          <p:nvPr/>
        </p:nvSpPr>
        <p:spPr>
          <a:xfrm>
            <a:off x="274320" y="1600200"/>
            <a:ext cx="2752411" cy="502920"/>
          </a:xfrm>
          <a:prstGeom prst="homePlate">
            <a:avLst>
              <a:gd name="adj" fmla="val 35000"/>
            </a:avLst>
          </a:prstGeom>
          <a:solidFill>
            <a:srgbClr val="C00000"/>
          </a:solidFill>
          <a:ln>
            <a:noFill/>
          </a:ln>
        </p:spPr>
        <p:txBody>
          <a:bodyPr rtlCol="0" anchor="ctr" wrap="square" lIns="73152" tIns="18288" rIns="212598" bIns="18288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数据与基础能力</a:t>
            </a:r>
            <a:endParaRPr sz="1400"/>
          </a:p>
        </p:txBody>
      </p:sp>
      <p:sp>
        <p:nvSpPr>
          <p:cNvPr id="7" name="Chevron 6"/>
          <p:cNvSpPr/>
          <p:nvPr/>
        </p:nvSpPr>
        <p:spPr>
          <a:xfrm>
            <a:off x="2905573" y="1600200"/>
            <a:ext cx="2927290" cy="502920"/>
          </a:xfrm>
          <a:prstGeom prst="chevron">
            <a:avLst>
              <a:gd name="adj" fmla="val 35000"/>
            </a:avLst>
          </a:prstGeom>
          <a:solidFill>
            <a:srgbClr val="C00000"/>
          </a:solidFill>
          <a:ln>
            <a:noFill/>
          </a:ln>
        </p:spPr>
        <p:txBody>
          <a:bodyPr rtlCol="0" anchor="ctr" wrap="square" lIns="212598" tIns="18288" rIns="212598" bIns="18288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策略与规则</a:t>
            </a:r>
            <a:endParaRPr sz="1400"/>
          </a:p>
        </p:txBody>
      </p:sp>
      <p:sp>
        <p:nvSpPr>
          <p:cNvPr id="8" name="Chevron 7"/>
          <p:cNvSpPr/>
          <p:nvPr/>
        </p:nvSpPr>
        <p:spPr>
          <a:xfrm>
            <a:off x="5711705" y="1600200"/>
            <a:ext cx="3571673" cy="502920"/>
          </a:xfrm>
          <a:prstGeom prst="chevron">
            <a:avLst>
              <a:gd name="adj" fmla="val 35000"/>
            </a:avLst>
          </a:prstGeom>
          <a:solidFill>
            <a:srgbClr val="C00000"/>
          </a:solidFill>
          <a:ln>
            <a:noFill/>
          </a:ln>
        </p:spPr>
        <p:txBody>
          <a:bodyPr rtlCol="0" anchor="ctr" wrap="square" lIns="212598" tIns="18288" rIns="212598" bIns="18288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场景与一线动作</a:t>
            </a:r>
            <a:endParaRPr sz="1400"/>
          </a:p>
        </p:txBody>
      </p:sp>
      <p:sp>
        <p:nvSpPr>
          <p:cNvPr id="9" name="Chevron 8"/>
          <p:cNvSpPr/>
          <p:nvPr/>
        </p:nvSpPr>
        <p:spPr>
          <a:xfrm>
            <a:off x="9162221" y="1600200"/>
            <a:ext cx="2752411" cy="502920"/>
          </a:xfrm>
          <a:prstGeom prst="chevron">
            <a:avLst>
              <a:gd name="adj" fmla="val 35000"/>
            </a:avLst>
          </a:prstGeom>
          <a:solidFill>
            <a:srgbClr val="C00000"/>
          </a:solidFill>
          <a:ln>
            <a:noFill/>
          </a:ln>
        </p:spPr>
        <p:txBody>
          <a:bodyPr rtlCol="0" anchor="ctr" wrap="square" lIns="212598" tIns="18288" rIns="212598" bIns="18288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结果反馈与激励</a:t>
            </a:r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274320" y="2267712"/>
            <a:ext cx="2577532" cy="9966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多源数据汇聚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B域、O域、M域数据统一接入</a:t>
            </a: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274320" y="3538728"/>
            <a:ext cx="2577532" cy="9966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用户标签体系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基础属性、消费、终端、家庭关系</a:t>
            </a:r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274320" y="4809744"/>
            <a:ext cx="2577532" cy="9966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预测模型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离网预警、升档倾向、融合潜力</a:t>
            </a:r>
            <a:endParaRPr sz="1200"/>
          </a:p>
        </p:txBody>
      </p:sp>
      <p:sp>
        <p:nvSpPr>
          <p:cNvPr id="13" name="Rectangle 12"/>
          <p:cNvSpPr/>
          <p:nvPr/>
        </p:nvSpPr>
        <p:spPr>
          <a:xfrm>
            <a:off x="3080452" y="2267712"/>
            <a:ext cx="2577532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客户识别与分群</a:t>
            </a:r>
            <a:endParaRPr sz="1300"/>
          </a:p>
        </p:txBody>
      </p:sp>
      <p:cxnSp>
        <p:nvCxnSpPr>
          <p:cNvPr id="14" name="Connector 13"/>
          <p:cNvCxnSpPr/>
          <p:nvPr/>
        </p:nvCxnSpPr>
        <p:spPr>
          <a:xfrm>
            <a:off x="4369218" y="3282696"/>
            <a:ext cx="0" cy="237744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080452" y="3538728"/>
            <a:ext cx="2577532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策略匹配与规则配置</a:t>
            </a:r>
            <a:endParaRPr sz="1300"/>
          </a:p>
        </p:txBody>
      </p:sp>
      <p:cxnSp>
        <p:nvCxnSpPr>
          <p:cNvPr id="16" name="Connector 15"/>
          <p:cNvCxnSpPr/>
          <p:nvPr/>
        </p:nvCxnSpPr>
        <p:spPr>
          <a:xfrm>
            <a:off x="4369218" y="4553712"/>
            <a:ext cx="0" cy="237744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3080452" y="4809744"/>
            <a:ext cx="2577532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rtlCol="0" anchor="ctr" wrap="square" lIns="73152" tIns="43891" rIns="73152" bIns="43891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策略输出与分发</a:t>
            </a:r>
            <a:endParaRPr sz="1300"/>
          </a:p>
        </p:txBody>
      </p:sp>
      <p:sp>
        <p:nvSpPr>
          <p:cNvPr id="18" name="Rectangle 17"/>
          <p:cNvSpPr/>
          <p:nvPr/>
        </p:nvSpPr>
        <p:spPr>
          <a:xfrm>
            <a:off x="5886584" y="2267712"/>
            <a:ext cx="822960" cy="996696"/>
          </a:xfrm>
          <a:prstGeom prst="rect">
            <a:avLst/>
          </a:prstGeom>
          <a:solidFill>
            <a:srgbClr val="F4C7C7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厅店</a:t>
            </a:r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6709544" y="2267712"/>
            <a:ext cx="2398955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店员、助销工具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到店识别，精准推荐</a:t>
            </a:r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5886584" y="3538728"/>
            <a:ext cx="822960" cy="996696"/>
          </a:xfrm>
          <a:prstGeom prst="rect">
            <a:avLst/>
          </a:prstGeom>
          <a:solidFill>
            <a:srgbClr val="F4C7C7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智家装维</a:t>
            </a:r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6709544" y="3538728"/>
            <a:ext cx="2398955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装维工程师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上门服务时融合推荐</a:t>
            </a:r>
            <a:endParaRPr sz="1200"/>
          </a:p>
        </p:txBody>
      </p:sp>
      <p:sp>
        <p:nvSpPr>
          <p:cNvPr id="22" name="Rectangle 21"/>
          <p:cNvSpPr/>
          <p:nvPr/>
        </p:nvSpPr>
        <p:spPr>
          <a:xfrm>
            <a:off x="5886584" y="4809744"/>
            <a:ext cx="822960" cy="996696"/>
          </a:xfrm>
          <a:prstGeom prst="rect">
            <a:avLst/>
          </a:prstGeom>
          <a:solidFill>
            <a:srgbClr val="F4C7C7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集约外呼</a:t>
            </a:r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6709544" y="4809744"/>
            <a:ext cx="2398955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外呼坐席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高潜客户批量外呼</a:t>
            </a:r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9337100" y="2267712"/>
            <a:ext cx="2577532" cy="9966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结果回传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办理结果按日回流至平台</a:t>
            </a:r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9337100" y="3538728"/>
            <a:ext cx="2577532" cy="9966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进度监测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执行进度看板，异常自动提醒</a:t>
            </a:r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9337100" y="4809744"/>
            <a:ext cx="2577532" cy="9966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绩效激励</a:t>
            </a:r>
            <a:endParaRPr sz="1200"/>
          </a:p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按成效核算绩效，激励按月兑现</a:t>
            </a:r>
            <a:endParaRPr sz="1200"/>
          </a:p>
        </p:txBody>
      </p:sp>
      <p:cxnSp>
        <p:nvCxnSpPr>
          <p:cNvPr id="27" name="Connector 26"/>
          <p:cNvCxnSpPr/>
          <p:nvPr/>
        </p:nvCxnSpPr>
        <p:spPr>
          <a:xfrm>
            <a:off x="10625866" y="5806440"/>
            <a:ext cx="0" cy="27432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</p:cxnSp>
      <p:cxnSp>
        <p:nvCxnSpPr>
          <p:cNvPr id="28" name="Connector 27"/>
          <p:cNvCxnSpPr/>
          <p:nvPr/>
        </p:nvCxnSpPr>
        <p:spPr>
          <a:xfrm flipH="1">
            <a:off x="4369218" y="6080760"/>
            <a:ext cx="6256648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</p:cxnSp>
      <p:cxnSp>
        <p:nvCxnSpPr>
          <p:cNvPr id="29" name="Connector 28"/>
          <p:cNvCxnSpPr/>
          <p:nvPr/>
        </p:nvCxnSpPr>
        <p:spPr>
          <a:xfrm flipV="1">
            <a:off x="4369218" y="5806440"/>
            <a:ext cx="0" cy="274320"/>
          </a:xfrm>
          <a:prstGeom prst="line">
            <a:avLst/>
          </a:prstGeom>
          <a:ln w="15875">
            <a:solidFill>
              <a:srgbClr val="C00000"/>
            </a:solidFill>
            <a:prstDash val="dash"/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6452332" y="5953379"/>
            <a:ext cx="2090420" cy="254762"/>
          </a:xfrm>
          <a:prstGeom prst="rect">
            <a:avLst/>
          </a:prstGeom>
          <a:solidFill>
            <a:srgbClr val="FFFFFF"/>
          </a:solidFill>
        </p:spPr>
        <p:txBody>
          <a:bodyPr wrap="square" lIns="18288" tIns="10973" rIns="18288" bIns="10973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执行结果回流，驱动策略迭代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ic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548640"/>
            <a:ext cx="3406140" cy="1002313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510589" y="2656332"/>
            <a:ext cx="0" cy="1549908"/>
          </a:xfrm>
          <a:prstGeom prst="line">
            <a:avLst/>
          </a:prstGeom>
          <a:ln w="57150" cmpd="thinThick">
            <a:solidFill>
              <a:srgbClr val="EE000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810512" y="292608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4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谢谢！</a:t>
            </a:r>
            <a:endParaRPr sz="4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1.xml><?xml version="1.0" encoding="utf-8"?>
<p:tagLst xmlns:p="http://schemas.openxmlformats.org/presentationml/2006/main">
  <p:tag name="COMMONDATA" val="eyJoZGlkIjoiYTU2MDNhYzdlZWEzMGRjZTlhYjAzNTlhZWY2MzEzY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表格</Application>
  <PresentationFormat>宽屏</PresentationFormat>
  <Paragraphs>52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Times New Roman</vt:lpstr>
      <vt:lpstr>Arial Unicode MS</vt:lpstr>
      <vt:lpstr>Helvetica</vt:lpstr>
      <vt:lpstr>汉仪大黑简</vt:lpstr>
      <vt:lpstr>Calibri</vt:lpstr>
      <vt:lpstr>微软雅黑</vt:lpstr>
      <vt:lpstr>汉仪旗黑</vt:lpstr>
      <vt:lpstr>汉仪书宋二KW</vt:lpstr>
      <vt:lpstr>Helvetica Neue</vt:lpstr>
      <vt:lpstr>宋体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Ryan</cp:lastModifiedBy>
  <cp:revision>250</cp:revision>
  <dcterms:created xsi:type="dcterms:W3CDTF">2026-06-18T00:46:13Z</dcterms:created>
  <dcterms:modified xsi:type="dcterms:W3CDTF">2026-06-18T00:46:13Z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E798FB432A994D6093629A526C2B1498</vt:lpwstr>
  </property>
</Properties>
</file>