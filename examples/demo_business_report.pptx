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  <p:sldId id="261" r:id="rId4"/>
    <p:sldId id="262" r:id="rId3"/>
    <p:sldId id="263" r:id="rId16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Relationship Id="rId1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经营管理数字化建设汇报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10512" y="3542538"/>
            <a:ext cx="9966960" cy="4754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体系建设 · 专项攻坚 · 数据赋能（示例）</a:t>
            </a:r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示例分公司</a:t>
            </a:r>
            <a:endParaRPr sz="2200"/>
          </a:p>
        </p:txBody>
      </p:sp>
      <p:sp>
        <p:nvSpPr>
          <p:cNvPr id="7" name="TextBox 6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体系建设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专项攻坚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数据赋能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一、薪酬激励一体化平台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7376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7376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737616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依托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人力、财务、经分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三大系统数据，建设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薪酬激励一体化平台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，打通「指标—考核—薪酬—分析」全链条，实现激励规则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线上配置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、薪酬结果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自动核算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、激励效果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按月评价</a:t>
            </a:r>
            <a:endParaRPr sz="1400"/>
          </a:p>
        </p:txBody>
      </p:sp>
      <p:sp>
        <p:nvSpPr>
          <p:cNvPr id="6" name="TextBox 5"/>
          <p:cNvSpPr txBox="1"/>
          <p:nvPr/>
        </p:nvSpPr>
        <p:spPr>
          <a:xfrm>
            <a:off x="274320" y="1862328"/>
            <a:ext cx="2772918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基础支撑</a:t>
            </a:r>
            <a:endParaRPr sz="1500"/>
          </a:p>
        </p:txBody>
      </p:sp>
      <p:sp>
        <p:nvSpPr>
          <p:cNvPr id="7" name="TextBox 6"/>
          <p:cNvSpPr txBox="1"/>
          <p:nvPr/>
        </p:nvSpPr>
        <p:spPr>
          <a:xfrm>
            <a:off x="3321558" y="1862328"/>
            <a:ext cx="5545836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平台架构</a:t>
            </a:r>
            <a:endParaRPr sz="1500"/>
          </a:p>
        </p:txBody>
      </p:sp>
      <p:sp>
        <p:nvSpPr>
          <p:cNvPr id="8" name="TextBox 7"/>
          <p:cNvSpPr txBox="1"/>
          <p:nvPr/>
        </p:nvSpPr>
        <p:spPr>
          <a:xfrm>
            <a:off x="9141714" y="1862328"/>
            <a:ext cx="2772918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业务价值</a:t>
            </a:r>
            <a:endParaRPr sz="1500"/>
          </a:p>
        </p:txBody>
      </p:sp>
      <p:sp>
        <p:nvSpPr>
          <p:cNvPr id="9" name="Rectangle 8"/>
          <p:cNvSpPr/>
          <p:nvPr/>
        </p:nvSpPr>
        <p:spPr>
          <a:xfrm>
            <a:off x="274320" y="2292858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292858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人力资源系统</a:t>
            </a:r>
            <a:endParaRPr sz="1300"/>
          </a:p>
        </p:txBody>
      </p:sp>
      <p:sp>
        <p:nvSpPr>
          <p:cNvPr id="11" name="TextBox 10"/>
          <p:cNvSpPr txBox="1"/>
          <p:nvPr/>
        </p:nvSpPr>
        <p:spPr>
          <a:xfrm>
            <a:off x="320040" y="2731770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组织架构、岗位序列、人员档案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数据按日同步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74320" y="3662172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662172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财务系统</a:t>
            </a:r>
            <a:endParaRPr sz="1300"/>
          </a:p>
        </p:txBody>
      </p:sp>
      <p:sp>
        <p:nvSpPr>
          <p:cNvPr id="14" name="TextBox 13"/>
          <p:cNvSpPr txBox="1"/>
          <p:nvPr/>
        </p:nvSpPr>
        <p:spPr>
          <a:xfrm>
            <a:off x="320040" y="4101084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薪酬总额、成本中心、发放台账</a:t>
            </a:r>
            <a:endParaRPr sz="1200"/>
          </a:p>
        </p:txBody>
      </p:sp>
      <p:sp>
        <p:nvSpPr>
          <p:cNvPr id="15" name="Rectangle 14"/>
          <p:cNvSpPr/>
          <p:nvPr/>
        </p:nvSpPr>
        <p:spPr>
          <a:xfrm>
            <a:off x="274320" y="5031486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5031486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经营分析系统</a:t>
            </a:r>
            <a:endParaRPr sz="1300"/>
          </a:p>
        </p:txBody>
      </p:sp>
      <p:sp>
        <p:nvSpPr>
          <p:cNvPr id="17" name="TextBox 16"/>
          <p:cNvSpPr txBox="1"/>
          <p:nvPr/>
        </p:nvSpPr>
        <p:spPr>
          <a:xfrm>
            <a:off x="320040" y="5470398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收入、用户、业务量等考核指标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数据按月抽取</a:t>
            </a:r>
            <a:endParaRPr sz="1200"/>
          </a:p>
        </p:txBody>
      </p:sp>
      <p:sp>
        <p:nvSpPr>
          <p:cNvPr id="18" name="Rectangle 17"/>
          <p:cNvSpPr/>
          <p:nvPr/>
        </p:nvSpPr>
        <p:spPr>
          <a:xfrm>
            <a:off x="3321558" y="2292858"/>
            <a:ext cx="5545836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薪酬激励一体化平台</a:t>
            </a:r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3321558" y="2795778"/>
            <a:ext cx="868680" cy="5399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服务对象</a:t>
            </a:r>
            <a:endParaRPr sz="1100"/>
          </a:p>
        </p:txBody>
      </p:sp>
      <p:sp>
        <p:nvSpPr>
          <p:cNvPr id="20" name="Rounded Rectangle 19"/>
          <p:cNvSpPr/>
          <p:nvPr/>
        </p:nvSpPr>
        <p:spPr>
          <a:xfrm>
            <a:off x="4281678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省公司管理层</a:t>
            </a:r>
            <a:endParaRPr sz="1150"/>
          </a:p>
        </p:txBody>
      </p:sp>
      <p:sp>
        <p:nvSpPr>
          <p:cNvPr id="21" name="Rounded Rectangle 20"/>
          <p:cNvSpPr/>
          <p:nvPr/>
        </p:nvSpPr>
        <p:spPr>
          <a:xfrm>
            <a:off x="5455539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地市人力部门</a:t>
            </a:r>
            <a:endParaRPr sz="1150"/>
          </a:p>
        </p:txBody>
      </p:sp>
      <p:sp>
        <p:nvSpPr>
          <p:cNvPr id="22" name="Rounded Rectangle 21"/>
          <p:cNvSpPr/>
          <p:nvPr/>
        </p:nvSpPr>
        <p:spPr>
          <a:xfrm>
            <a:off x="6629400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区县/网格长</a:t>
            </a:r>
            <a:endParaRPr sz="1200"/>
          </a:p>
        </p:txBody>
      </p:sp>
      <p:sp>
        <p:nvSpPr>
          <p:cNvPr id="23" name="Rounded Rectangle 22"/>
          <p:cNvSpPr/>
          <p:nvPr/>
        </p:nvSpPr>
        <p:spPr>
          <a:xfrm>
            <a:off x="7803261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一线员工</a:t>
            </a:r>
            <a:endParaRPr sz="1200"/>
          </a:p>
        </p:txBody>
      </p:sp>
      <p:cxnSp>
        <p:nvCxnSpPr>
          <p:cNvPr id="24" name="Connector 23"/>
          <p:cNvCxnSpPr/>
          <p:nvPr/>
        </p:nvCxnSpPr>
        <p:spPr>
          <a:xfrm flipV="1">
            <a:off x="6574536" y="3262579"/>
            <a:ext cx="0" cy="45720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6629400" y="3381197"/>
            <a:ext cx="617728" cy="219964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服务支撑</a:t>
            </a:r>
            <a:endParaRPr sz="1000"/>
          </a:p>
        </p:txBody>
      </p:sp>
      <p:sp>
        <p:nvSpPr>
          <p:cNvPr id="26" name="Rectangle 25"/>
          <p:cNvSpPr/>
          <p:nvPr/>
        </p:nvSpPr>
        <p:spPr>
          <a:xfrm>
            <a:off x="3321558" y="3719779"/>
            <a:ext cx="868680" cy="143987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核心能力</a:t>
            </a:r>
            <a:endParaRPr sz="1100"/>
          </a:p>
        </p:txBody>
      </p:sp>
      <p:sp>
        <p:nvSpPr>
          <p:cNvPr id="27" name="Rectangle 26"/>
          <p:cNvSpPr/>
          <p:nvPr/>
        </p:nvSpPr>
        <p:spPr>
          <a:xfrm>
            <a:off x="4281678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1678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考核指标管理</a:t>
            </a:r>
            <a:endParaRPr sz="1300"/>
          </a:p>
        </p:txBody>
      </p:sp>
      <p:cxnSp>
        <p:nvCxnSpPr>
          <p:cNvPr id="29" name="Connector 28"/>
          <p:cNvCxnSpPr/>
          <p:nvPr/>
        </p:nvCxnSpPr>
        <p:spPr>
          <a:xfrm>
            <a:off x="4418838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4281678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指标库配置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目标分解下达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权重动态调整</a:t>
            </a:r>
            <a:endParaRPr sz="1200"/>
          </a:p>
        </p:txBody>
      </p:sp>
      <p:sp>
        <p:nvSpPr>
          <p:cNvPr id="31" name="Rectangle 30"/>
          <p:cNvSpPr/>
          <p:nvPr/>
        </p:nvSpPr>
        <p:spPr>
          <a:xfrm>
            <a:off x="5855970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5970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薪酬测算发放</a:t>
            </a:r>
            <a:endParaRPr sz="1300"/>
          </a:p>
        </p:txBody>
      </p:sp>
      <p:cxnSp>
        <p:nvCxnSpPr>
          <p:cNvPr id="33" name="Connector 32"/>
          <p:cNvCxnSpPr/>
          <p:nvPr/>
        </p:nvCxnSpPr>
        <p:spPr>
          <a:xfrm>
            <a:off x="5993130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855970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绩效自动核算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薪酬模拟测算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发放校验留痕</a:t>
            </a:r>
            <a:endParaRPr sz="1200"/>
          </a:p>
        </p:txBody>
      </p:sp>
      <p:sp>
        <p:nvSpPr>
          <p:cNvPr id="35" name="Rectangle 34"/>
          <p:cNvSpPr/>
          <p:nvPr/>
        </p:nvSpPr>
        <p:spPr>
          <a:xfrm>
            <a:off x="7430262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30262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激励效果分析</a:t>
            </a:r>
            <a:endParaRPr sz="1300"/>
          </a:p>
        </p:txBody>
      </p:sp>
      <p:cxnSp>
        <p:nvCxnSpPr>
          <p:cNvPr id="37" name="Connector 36"/>
          <p:cNvCxnSpPr/>
          <p:nvPr/>
        </p:nvCxnSpPr>
        <p:spPr>
          <a:xfrm>
            <a:off x="7567422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7430262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激励投入产出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异常波动预警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人均效能对标</a:t>
            </a:r>
            <a:endParaRPr sz="1200"/>
          </a:p>
        </p:txBody>
      </p:sp>
      <p:cxnSp>
        <p:nvCxnSpPr>
          <p:cNvPr id="39" name="Connector 38"/>
          <p:cNvCxnSpPr/>
          <p:nvPr/>
        </p:nvCxnSpPr>
        <p:spPr>
          <a:xfrm>
            <a:off x="5718810" y="4668317"/>
            <a:ext cx="137160" cy="0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7293102" y="4668317"/>
            <a:ext cx="137160" cy="0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 flipV="1">
            <a:off x="6574536" y="5159654"/>
            <a:ext cx="0" cy="384048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42" name="TextBox 41"/>
          <p:cNvSpPr txBox="1"/>
          <p:nvPr/>
        </p:nvSpPr>
        <p:spPr>
          <a:xfrm>
            <a:off x="6629400" y="5241696"/>
            <a:ext cx="617728" cy="219964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数据支撑</a:t>
            </a:r>
            <a:endParaRPr sz="1000"/>
          </a:p>
        </p:txBody>
      </p:sp>
      <p:sp>
        <p:nvSpPr>
          <p:cNvPr id="43" name="Rectangle 42"/>
          <p:cNvSpPr/>
          <p:nvPr/>
        </p:nvSpPr>
        <p:spPr>
          <a:xfrm>
            <a:off x="3321558" y="5543702"/>
            <a:ext cx="868680" cy="71993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数据底座</a:t>
            </a:r>
            <a:endParaRPr sz="1100"/>
          </a:p>
        </p:txBody>
      </p:sp>
      <p:sp>
        <p:nvSpPr>
          <p:cNvPr id="44" name="Rectangle 43"/>
          <p:cNvSpPr/>
          <p:nvPr/>
        </p:nvSpPr>
        <p:spPr>
          <a:xfrm>
            <a:off x="4281678" y="5543702"/>
            <a:ext cx="4585716" cy="719938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91406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组织信息</a:t>
            </a:r>
            <a:endParaRPr sz="1200"/>
          </a:p>
        </p:txBody>
      </p:sp>
      <p:sp>
        <p:nvSpPr>
          <p:cNvPr id="46" name="Rectangle 45"/>
          <p:cNvSpPr/>
          <p:nvPr/>
        </p:nvSpPr>
        <p:spPr>
          <a:xfrm>
            <a:off x="5510403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人员信息</a:t>
            </a:r>
            <a:endParaRPr sz="1200"/>
          </a:p>
        </p:txBody>
      </p:sp>
      <p:sp>
        <p:nvSpPr>
          <p:cNvPr id="47" name="Rectangle 46"/>
          <p:cNvSpPr/>
          <p:nvPr/>
        </p:nvSpPr>
        <p:spPr>
          <a:xfrm>
            <a:off x="6629400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考核指标</a:t>
            </a:r>
            <a:endParaRPr sz="1200"/>
          </a:p>
        </p:txBody>
      </p:sp>
      <p:sp>
        <p:nvSpPr>
          <p:cNvPr id="48" name="Rectangle 47"/>
          <p:cNvSpPr/>
          <p:nvPr/>
        </p:nvSpPr>
        <p:spPr>
          <a:xfrm>
            <a:off x="7748397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薪酬规则</a:t>
            </a:r>
            <a:endParaRPr sz="1200"/>
          </a:p>
        </p:txBody>
      </p:sp>
      <p:sp>
        <p:nvSpPr>
          <p:cNvPr id="49" name="Oval 48"/>
          <p:cNvSpPr/>
          <p:nvPr/>
        </p:nvSpPr>
        <p:spPr>
          <a:xfrm>
            <a:off x="9141714" y="2384298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300"/>
          </a:p>
        </p:txBody>
      </p:sp>
      <p:sp>
        <p:nvSpPr>
          <p:cNvPr id="50" name="TextBox 49"/>
          <p:cNvSpPr txBox="1"/>
          <p:nvPr/>
        </p:nvSpPr>
        <p:spPr>
          <a:xfrm>
            <a:off x="9598914" y="2366010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规则透明</a:t>
            </a:r>
            <a:endParaRPr sz="1500"/>
          </a:p>
        </p:txBody>
      </p:sp>
      <p:sp>
        <p:nvSpPr>
          <p:cNvPr id="51" name="TextBox 50"/>
          <p:cNvSpPr txBox="1"/>
          <p:nvPr/>
        </p:nvSpPr>
        <p:spPr>
          <a:xfrm>
            <a:off x="9598914" y="2795778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考核与薪酬规则线上公示，员工可查可算，减少口径争议</a:t>
            </a:r>
            <a:endParaRPr sz="1200"/>
          </a:p>
        </p:txBody>
      </p:sp>
      <p:cxnSp>
        <p:nvCxnSpPr>
          <p:cNvPr id="52" name="Connector 51"/>
          <p:cNvCxnSpPr/>
          <p:nvPr/>
        </p:nvCxnSpPr>
        <p:spPr>
          <a:xfrm>
            <a:off x="9141714" y="3616452"/>
            <a:ext cx="2772918" cy="0"/>
          </a:xfrm>
          <a:prstGeom prst="line">
            <a:avLst/>
          </a:prstGeom>
          <a:ln w="12700">
            <a:solidFill>
              <a:srgbClr val="D9D9D9"/>
            </a:solidFill>
            <a:prstDash val="dash"/>
          </a:ln>
        </p:spPr>
      </p:cxnSp>
      <p:sp>
        <p:nvSpPr>
          <p:cNvPr id="53" name="Oval 52"/>
          <p:cNvSpPr/>
          <p:nvPr/>
        </p:nvSpPr>
        <p:spPr>
          <a:xfrm>
            <a:off x="9141714" y="3707892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9598914" y="3689604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核算提效</a:t>
            </a:r>
            <a:endParaRPr sz="1500"/>
          </a:p>
        </p:txBody>
      </p:sp>
      <p:sp>
        <p:nvSpPr>
          <p:cNvPr id="55" name="TextBox 54"/>
          <p:cNvSpPr txBox="1"/>
          <p:nvPr/>
        </p:nvSpPr>
        <p:spPr>
          <a:xfrm>
            <a:off x="9598914" y="4119372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月度薪酬核算由人工汇总改为系统自动生成，减少跨系统取数</a:t>
            </a:r>
            <a:endParaRPr sz="1200"/>
          </a:p>
        </p:txBody>
      </p:sp>
      <p:cxnSp>
        <p:nvCxnSpPr>
          <p:cNvPr id="56" name="Connector 55"/>
          <p:cNvCxnSpPr/>
          <p:nvPr/>
        </p:nvCxnSpPr>
        <p:spPr>
          <a:xfrm>
            <a:off x="9141714" y="4940046"/>
            <a:ext cx="2772918" cy="0"/>
          </a:xfrm>
          <a:prstGeom prst="line">
            <a:avLst/>
          </a:prstGeom>
          <a:ln w="12700">
            <a:solidFill>
              <a:srgbClr val="D9D9D9"/>
            </a:solidFill>
            <a:prstDash val="dash"/>
          </a:ln>
        </p:spPr>
      </p:cxnSp>
      <p:sp>
        <p:nvSpPr>
          <p:cNvPr id="57" name="Oval 56"/>
          <p:cNvSpPr/>
          <p:nvPr/>
        </p:nvSpPr>
        <p:spPr>
          <a:xfrm>
            <a:off x="9141714" y="5031486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300"/>
          </a:p>
        </p:txBody>
      </p:sp>
      <p:sp>
        <p:nvSpPr>
          <p:cNvPr id="58" name="TextBox 57"/>
          <p:cNvSpPr txBox="1"/>
          <p:nvPr/>
        </p:nvSpPr>
        <p:spPr>
          <a:xfrm>
            <a:off x="9598914" y="5013198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激励精准</a:t>
            </a:r>
            <a:endParaRPr sz="1500"/>
          </a:p>
        </p:txBody>
      </p:sp>
      <p:sp>
        <p:nvSpPr>
          <p:cNvPr id="59" name="TextBox 58"/>
          <p:cNvSpPr txBox="1"/>
          <p:nvPr/>
        </p:nvSpPr>
        <p:spPr>
          <a:xfrm>
            <a:off x="9598914" y="5442966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按投入产出评价激励效果，资源向高效能团队倾斜</a:t>
            </a:r>
            <a:endParaRPr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体系建设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专项攻坚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数据赋能</a:t>
            </a:r>
            <a:endParaRPr sz="2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二、存量宽带融合迁转专项攻坚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43000" cy="7498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现状和问题</a:t>
            </a:r>
            <a:endParaRPr sz="1300"/>
          </a:p>
        </p:txBody>
      </p:sp>
      <p:sp>
        <p:nvSpPr>
          <p:cNvPr id="4" name="Rectangle 3"/>
          <p:cNvSpPr/>
          <p:nvPr/>
        </p:nvSpPr>
        <p:spPr>
          <a:xfrm>
            <a:off x="1417320" y="960120"/>
            <a:ext cx="4539996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单宽带用户占比偏高，融合率低于全省平均，到期拆机风险集中；现有套餐与家庭多成员需求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不匹配</a:t>
            </a:r>
            <a:endParaRPr sz="1200"/>
          </a:p>
        </p:txBody>
      </p:sp>
      <p:sp>
        <p:nvSpPr>
          <p:cNvPr id="5" name="Rectangle 4"/>
          <p:cNvSpPr/>
          <p:nvPr/>
        </p:nvSpPr>
        <p:spPr>
          <a:xfrm>
            <a:off x="6231636" y="960120"/>
            <a:ext cx="1143000" cy="7498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解决措施</a:t>
            </a:r>
            <a:endParaRPr sz="1300"/>
          </a:p>
        </p:txBody>
      </p:sp>
      <p:sp>
        <p:nvSpPr>
          <p:cNvPr id="6" name="Rectangle 5"/>
          <p:cNvSpPr/>
          <p:nvPr/>
        </p:nvSpPr>
        <p:spPr>
          <a:xfrm>
            <a:off x="7374636" y="960120"/>
            <a:ext cx="4539996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面向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三类存量客群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分群施策，以家庭融合升级为主线，四季度融合迁转</a:t>
            </a: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6.2万户</a:t>
            </a:r>
            <a:endParaRPr sz="1200"/>
          </a:p>
        </p:txBody>
      </p:sp>
      <p:sp>
        <p:nvSpPr>
          <p:cNvPr id="7" name="Rectangle 6"/>
          <p:cNvSpPr/>
          <p:nvPr/>
        </p:nvSpPr>
        <p:spPr>
          <a:xfrm>
            <a:off x="274320" y="1938528"/>
            <a:ext cx="1822786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目标客群（规模）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2371426" y="1938528"/>
            <a:ext cx="2154201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分群条件 / 策略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4799947" y="1938528"/>
            <a:ext cx="1905640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迁转方案</a:t>
            </a:r>
            <a:endParaRPr sz="1200"/>
          </a:p>
        </p:txBody>
      </p:sp>
      <p:sp>
        <p:nvSpPr>
          <p:cNvPr id="10" name="Rectangle 9"/>
          <p:cNvSpPr/>
          <p:nvPr/>
        </p:nvSpPr>
        <p:spPr>
          <a:xfrm>
            <a:off x="6979906" y="1938528"/>
            <a:ext cx="1077101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四季度目标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274320" y="2395728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单宽带用户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32.6万户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371426" y="2395728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有移动需求、在网≥12个月</a:t>
            </a:r>
            <a:endParaRPr sz="1200"/>
          </a:p>
        </p:txBody>
      </p:sp>
      <p:sp>
        <p:nvSpPr>
          <p:cNvPr id="13" name="Rectangle 12"/>
          <p:cNvSpPr/>
          <p:nvPr/>
        </p:nvSpPr>
        <p:spPr>
          <a:xfrm>
            <a:off x="4799947" y="2395728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宽带+移动融合入网</a:t>
            </a:r>
            <a:endParaRPr sz="1200"/>
          </a:p>
        </p:txBody>
      </p:sp>
      <p:sp>
        <p:nvSpPr>
          <p:cNvPr id="14" name="TextBox 13"/>
          <p:cNvSpPr txBox="1"/>
          <p:nvPr/>
        </p:nvSpPr>
        <p:spPr>
          <a:xfrm>
            <a:off x="6979906" y="2395728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3.0万户</a:t>
            </a:r>
            <a:endParaRPr sz="1400"/>
          </a:p>
        </p:txBody>
      </p:sp>
      <p:cxnSp>
        <p:nvCxnSpPr>
          <p:cNvPr id="15" name="Connector 14"/>
          <p:cNvCxnSpPr/>
          <p:nvPr/>
        </p:nvCxnSpPr>
        <p:spPr>
          <a:xfrm>
            <a:off x="2097106" y="2743200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16" name="Connector 15"/>
          <p:cNvCxnSpPr/>
          <p:nvPr/>
        </p:nvCxnSpPr>
        <p:spPr>
          <a:xfrm>
            <a:off x="4525627" y="2743200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274320" y="3182112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低值融合用户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18.4万户</a:t>
            </a:r>
            <a:endParaRPr sz="1200"/>
          </a:p>
        </p:txBody>
      </p:sp>
      <p:sp>
        <p:nvSpPr>
          <p:cNvPr id="18" name="Rectangle 17"/>
          <p:cNvSpPr/>
          <p:nvPr/>
        </p:nvSpPr>
        <p:spPr>
          <a:xfrm>
            <a:off x="2371426" y="3182112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套餐档位低、流量饱和度高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4799947" y="3182112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融合套餐升档</a:t>
            </a:r>
            <a:endParaRPr sz="1200"/>
          </a:p>
        </p:txBody>
      </p:sp>
      <p:sp>
        <p:nvSpPr>
          <p:cNvPr id="20" name="TextBox 19"/>
          <p:cNvSpPr txBox="1"/>
          <p:nvPr/>
        </p:nvSpPr>
        <p:spPr>
          <a:xfrm>
            <a:off x="6979906" y="3182112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2.2万户</a:t>
            </a:r>
            <a:endParaRPr sz="1400"/>
          </a:p>
        </p:txBody>
      </p:sp>
      <p:cxnSp>
        <p:nvCxnSpPr>
          <p:cNvPr id="21" name="Connector 20"/>
          <p:cNvCxnSpPr/>
          <p:nvPr/>
        </p:nvCxnSpPr>
        <p:spPr>
          <a:xfrm>
            <a:off x="2097106" y="3529584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>
            <a:off x="4525627" y="3529584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274320" y="3968496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家庭成员异网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9.8万户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2371426" y="3968496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宽带家庭内有异网成员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4799947" y="3968496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家庭共享副卡</a:t>
            </a:r>
            <a:endParaRPr sz="1200"/>
          </a:p>
        </p:txBody>
      </p:sp>
      <p:sp>
        <p:nvSpPr>
          <p:cNvPr id="26" name="TextBox 25"/>
          <p:cNvSpPr txBox="1"/>
          <p:nvPr/>
        </p:nvSpPr>
        <p:spPr>
          <a:xfrm>
            <a:off x="6979906" y="3968496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1.0万户</a:t>
            </a:r>
            <a:endParaRPr sz="1400"/>
          </a:p>
        </p:txBody>
      </p:sp>
      <p:cxnSp>
        <p:nvCxnSpPr>
          <p:cNvPr id="27" name="Connector 26"/>
          <p:cNvCxnSpPr/>
          <p:nvPr/>
        </p:nvCxnSpPr>
        <p:spPr>
          <a:xfrm>
            <a:off x="2097106" y="4315968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>
            <a:off x="4525627" y="4315968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377047" y="1901952"/>
            <a:ext cx="3537585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重点方案</a:t>
            </a:r>
            <a:endParaRPr sz="1500"/>
          </a:p>
        </p:txBody>
      </p:sp>
      <p:sp>
        <p:nvSpPr>
          <p:cNvPr id="30" name="Rectangle 29"/>
          <p:cNvSpPr/>
          <p:nvPr/>
        </p:nvSpPr>
        <p:spPr>
          <a:xfrm>
            <a:off x="8377047" y="2322576"/>
            <a:ext cx="3537585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主推：家庭融合升级包</a:t>
            </a:r>
            <a:endParaRPr sz="1300"/>
          </a:p>
        </p:txBody>
      </p:sp>
      <p:sp>
        <p:nvSpPr>
          <p:cNvPr id="31" name="Rectangle 30"/>
          <p:cNvSpPr/>
          <p:nvPr/>
        </p:nvSpPr>
        <p:spPr>
          <a:xfrm>
            <a:off x="8377047" y="2706624"/>
            <a:ext cx="3537585" cy="1956816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146304" tIns="87782" rIns="146304" bIns="87782">
            <a:noAutofit/>
          </a:bodyPr>
          <a:lstStyle/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适用对象：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单宽带及低值融合家庭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差异点：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宽带提速与家庭副卡打包，一次办理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预期作用：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提升融合率，降低到期拆机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（资费与权益以正式方案为准）</a:t>
            </a:r>
            <a:endParaRPr sz="1250"/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执行要点</a:t>
            </a:r>
            <a:endParaRPr sz="1500"/>
          </a:p>
        </p:txBody>
      </p:sp>
      <p:sp>
        <p:nvSpPr>
          <p:cNvPr id="33" name="Rectangle 32"/>
          <p:cNvSpPr/>
          <p:nvPr/>
        </p:nvSpPr>
        <p:spPr>
          <a:xfrm>
            <a:off x="274320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口径统一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统一客群清单与迁转口径，周更新</a:t>
            </a:r>
            <a:endParaRPr sz="1200"/>
          </a:p>
        </p:txBody>
      </p:sp>
      <p:sp>
        <p:nvSpPr>
          <p:cNvPr id="34" name="Rectangle 33"/>
          <p:cNvSpPr/>
          <p:nvPr/>
        </p:nvSpPr>
        <p:spPr>
          <a:xfrm>
            <a:off x="3230118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渠道执行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厅店、装维、外呼三渠道同步触达</a:t>
            </a:r>
            <a:endParaRPr sz="1200"/>
          </a:p>
        </p:txBody>
      </p:sp>
      <p:sp>
        <p:nvSpPr>
          <p:cNvPr id="35" name="Rectangle 34"/>
          <p:cNvSpPr/>
          <p:nvPr/>
        </p:nvSpPr>
        <p:spPr>
          <a:xfrm>
            <a:off x="6185916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组织分工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市场部牵头，区县落实到网格</a:t>
            </a:r>
            <a:endParaRPr sz="1200"/>
          </a:p>
        </p:txBody>
      </p:sp>
      <p:sp>
        <p:nvSpPr>
          <p:cNvPr id="36" name="Rectangle 35"/>
          <p:cNvSpPr/>
          <p:nvPr/>
        </p:nvSpPr>
        <p:spPr>
          <a:xfrm>
            <a:off x="9141714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过程监测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日跟踪、周通报，落后网格专项督导</a:t>
            </a:r>
            <a:endParaRPr sz="1200"/>
          </a:p>
        </p:txBody>
      </p:sp>
      <p:sp>
        <p:nvSpPr>
          <p:cNvPr id="37" name="TextBox 36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注：客群规模与目标为示例数据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体系建设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专项攻坚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数据赋能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三、数据能力精准助销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7376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7376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737616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以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用户标签与预测模型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为基础，形成可配置的营销策略，下发至厅店、装维、外呼等一线场景，执行结果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按日回流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，驱动绩效核算与策略迭代</a:t>
            </a:r>
            <a:endParaRPr sz="1400"/>
          </a:p>
        </p:txBody>
      </p:sp>
      <p:sp>
        <p:nvSpPr>
          <p:cNvPr id="6" name="Pentagon 5"/>
          <p:cNvSpPr/>
          <p:nvPr/>
        </p:nvSpPr>
        <p:spPr>
          <a:xfrm>
            <a:off x="274320" y="1862328"/>
            <a:ext cx="2752411" cy="502920"/>
          </a:xfrm>
          <a:prstGeom prst="homePlate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73152" tIns="18288" rIns="212598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数据与基础能力</a:t>
            </a:r>
            <a:endParaRPr sz="1400"/>
          </a:p>
        </p:txBody>
      </p:sp>
      <p:sp>
        <p:nvSpPr>
          <p:cNvPr id="7" name="Chevron 6"/>
          <p:cNvSpPr/>
          <p:nvPr/>
        </p:nvSpPr>
        <p:spPr>
          <a:xfrm>
            <a:off x="2905573" y="1862328"/>
            <a:ext cx="2927290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12598" tIns="18288" rIns="212598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策略与规则</a:t>
            </a:r>
            <a:endParaRPr sz="1400"/>
          </a:p>
        </p:txBody>
      </p:sp>
      <p:sp>
        <p:nvSpPr>
          <p:cNvPr id="8" name="Chevron 7"/>
          <p:cNvSpPr/>
          <p:nvPr/>
        </p:nvSpPr>
        <p:spPr>
          <a:xfrm>
            <a:off x="5711705" y="1862328"/>
            <a:ext cx="3571673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12598" tIns="18288" rIns="212598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场景与一线动作</a:t>
            </a:r>
            <a:endParaRPr sz="1400"/>
          </a:p>
        </p:txBody>
      </p:sp>
      <p:sp>
        <p:nvSpPr>
          <p:cNvPr id="9" name="Chevron 8"/>
          <p:cNvSpPr/>
          <p:nvPr/>
        </p:nvSpPr>
        <p:spPr>
          <a:xfrm>
            <a:off x="9162221" y="1862328"/>
            <a:ext cx="2752411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12598" tIns="18288" rIns="212598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结果反馈与激励</a:t>
            </a:r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274320" y="252984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多源数据汇聚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B域、O域、M域数据统一接入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274320" y="371348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用户标签体系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基础属性、消费、终端、家庭关系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74320" y="489712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预测模型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离网预警、升档倾向、融合潜力</a:t>
            </a:r>
            <a:endParaRPr sz="1200"/>
          </a:p>
        </p:txBody>
      </p:sp>
      <p:sp>
        <p:nvSpPr>
          <p:cNvPr id="13" name="Rectangle 12"/>
          <p:cNvSpPr/>
          <p:nvPr/>
        </p:nvSpPr>
        <p:spPr>
          <a:xfrm>
            <a:off x="3080452" y="2529840"/>
            <a:ext cx="2577532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客户识别与分群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4369218" y="3457448"/>
            <a:ext cx="0" cy="237744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3080452" y="3713480"/>
            <a:ext cx="2577532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策略匹配与规则配置</a:t>
            </a:r>
            <a:endParaRPr sz="1300"/>
          </a:p>
        </p:txBody>
      </p:sp>
      <p:cxnSp>
        <p:nvCxnSpPr>
          <p:cNvPr id="16" name="Connector 15"/>
          <p:cNvCxnSpPr/>
          <p:nvPr/>
        </p:nvCxnSpPr>
        <p:spPr>
          <a:xfrm>
            <a:off x="4369218" y="4641088"/>
            <a:ext cx="0" cy="237744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3080452" y="4897120"/>
            <a:ext cx="2577532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策略输出与分发</a:t>
            </a:r>
            <a:endParaRPr sz="1300"/>
          </a:p>
        </p:txBody>
      </p:sp>
      <p:sp>
        <p:nvSpPr>
          <p:cNvPr id="18" name="Rectangle 17"/>
          <p:cNvSpPr/>
          <p:nvPr/>
        </p:nvSpPr>
        <p:spPr>
          <a:xfrm>
            <a:off x="5886584" y="2529840"/>
            <a:ext cx="822960" cy="909320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厅店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6709544" y="2529840"/>
            <a:ext cx="2398955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店员、助销工具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到店识别，精准推荐</a:t>
            </a:r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5886584" y="3713480"/>
            <a:ext cx="822960" cy="909320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智家装维</a:t>
            </a:r>
            <a:endParaRPr sz="1200"/>
          </a:p>
        </p:txBody>
      </p:sp>
      <p:sp>
        <p:nvSpPr>
          <p:cNvPr id="21" name="Rectangle 20"/>
          <p:cNvSpPr/>
          <p:nvPr/>
        </p:nvSpPr>
        <p:spPr>
          <a:xfrm>
            <a:off x="6709544" y="3713480"/>
            <a:ext cx="2398955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装维工程师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上门服务时融合推荐</a:t>
            </a:r>
            <a:endParaRPr sz="1200"/>
          </a:p>
        </p:txBody>
      </p:sp>
      <p:sp>
        <p:nvSpPr>
          <p:cNvPr id="22" name="Rectangle 21"/>
          <p:cNvSpPr/>
          <p:nvPr/>
        </p:nvSpPr>
        <p:spPr>
          <a:xfrm>
            <a:off x="5886584" y="4897120"/>
            <a:ext cx="822960" cy="909320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集约外呼</a:t>
            </a:r>
            <a:endParaRPr sz="1200"/>
          </a:p>
        </p:txBody>
      </p:sp>
      <p:sp>
        <p:nvSpPr>
          <p:cNvPr id="23" name="Rectangle 22"/>
          <p:cNvSpPr/>
          <p:nvPr/>
        </p:nvSpPr>
        <p:spPr>
          <a:xfrm>
            <a:off x="6709544" y="4897120"/>
            <a:ext cx="2398955" cy="909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外呼坐席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高潜客户批量外呼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9337100" y="252984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结果回传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办理结果按日回流至平台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9337100" y="371348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进度监测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执行进度看板，异常自动提醒</a:t>
            </a:r>
            <a:endParaRPr sz="1200"/>
          </a:p>
        </p:txBody>
      </p:sp>
      <p:sp>
        <p:nvSpPr>
          <p:cNvPr id="26" name="Rectangle 25"/>
          <p:cNvSpPr/>
          <p:nvPr/>
        </p:nvSpPr>
        <p:spPr>
          <a:xfrm>
            <a:off x="9337100" y="4897120"/>
            <a:ext cx="2577532" cy="909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绩效激励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按成效核算绩效，激励按月兑现</a:t>
            </a:r>
            <a:endParaRPr sz="1200"/>
          </a:p>
        </p:txBody>
      </p:sp>
      <p:cxnSp>
        <p:nvCxnSpPr>
          <p:cNvPr id="27" name="Connector 26"/>
          <p:cNvCxnSpPr/>
          <p:nvPr/>
        </p:nvCxnSpPr>
        <p:spPr>
          <a:xfrm>
            <a:off x="10625866" y="5806440"/>
            <a:ext cx="0" cy="27432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 flipH="1">
            <a:off x="4369218" y="6080760"/>
            <a:ext cx="6256648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 flipV="1">
            <a:off x="4369218" y="5806440"/>
            <a:ext cx="0" cy="27432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6452332" y="5953379"/>
            <a:ext cx="2090420" cy="254762"/>
          </a:xfrm>
          <a:prstGeom prst="rect">
            <a:avLst/>
          </a:prstGeom>
          <a:solidFill>
            <a:srgbClr val="FFFFFF"/>
          </a:solidFill>
        </p:spPr>
        <p:txBody>
          <a:bodyPr wrap="square" lIns="18288" tIns="10973" rIns="18288" bIns="10973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执行结果回流，驱动策略迭代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1549908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92608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4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谢谢！</a:t>
            </a:r>
            <a:endParaRPr sz="48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