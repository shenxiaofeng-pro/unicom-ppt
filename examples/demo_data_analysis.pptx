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  <p:sldId id="261" r:id="rId4"/>
    <p:sldId id="262" r:id="rId3"/>
    <p:sldId id="263" r:id="rId16"/>
    <p:sldId id="264" r:id="rId17"/>
    <p:sldId id="265" r:id="rId18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系列1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dPt>
            <c:idx val="8"/>
            <c:spPr>
              <a:solidFill>
                <a:srgbClr val="C00000"/>
              </a:solidFill>
            </c:spPr>
          </c:dPt>
          <c:dLbls>
            <c:dLbl>
              <c:idx val="8"/>
              <c:numFmt formatCode="0.00" sourceLinked="0"/>
              <c:spPr/>
              <c:txPr>
                <a:bodyPr/>
                <a:lstStyle/>
                <a:p>
                  <a:pPr>
                    <a:defRPr b="1" sz="1000">
                      <a:solidFill>
                        <a:srgbClr val="C0000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1000">
                    <a:solidFill>
                      <a:srgbClr val="262626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4.12</c:v>
                </c:pt>
                <c:pt idx="1">
                  <c:v>4.05</c:v>
                </c:pt>
                <c:pt idx="2">
                  <c:v>4.31</c:v>
                </c:pt>
                <c:pt idx="3">
                  <c:v>4.28</c:v>
                </c:pt>
                <c:pt idx="4">
                  <c:v>4.33</c:v>
                </c:pt>
                <c:pt idx="5">
                  <c:v>4.36</c:v>
                </c:pt>
                <c:pt idx="6">
                  <c:v>4.29</c:v>
                </c:pt>
                <c:pt idx="7">
                  <c:v>4.4</c:v>
                </c:pt>
                <c:pt idx="8">
                  <c:v>4.48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62626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2025年1-9月经营分析报告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示例市分公司 市场部</a:t>
            </a:r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核心结论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前三季度收入稳中有进，但完成率落后时序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、宽带渗透率持续下滑，四季度须聚焦存量维系与落后区县追赶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75488" y="212521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300"/>
          </a:p>
        </p:txBody>
      </p:sp>
      <p:sp>
        <p:nvSpPr>
          <p:cNvPr id="8" name="TextBox 7"/>
          <p:cNvSpPr txBox="1"/>
          <p:nvPr/>
        </p:nvSpPr>
        <p:spPr>
          <a:xfrm>
            <a:off x="1051560" y="165963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收入稳中有进，全年目标承压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38.62亿元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，领先全省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；完成率73.1%，落后时序进度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，四季度月均需达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（较前三季度月均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</a:t>
            </a:r>
            <a:endParaRPr sz="1300"/>
          </a:p>
        </p:txBody>
      </p:sp>
      <p:cxnSp>
        <p:nvCxnSpPr>
          <p:cNvPr id="9" name="Connector 8"/>
          <p:cNvCxnSpPr/>
          <p:nvPr/>
        </p:nvCxnSpPr>
        <p:spPr>
          <a:xfrm>
            <a:off x="9445752" y="178765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582912" y="169621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收入同比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21259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" y="373303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300"/>
          </a:p>
        </p:txBody>
      </p:sp>
      <p:sp>
        <p:nvSpPr>
          <p:cNvPr id="13" name="TextBox 12"/>
          <p:cNvSpPr txBox="1"/>
          <p:nvPr/>
        </p:nvSpPr>
        <p:spPr>
          <a:xfrm>
            <a:off x="1051560" y="326745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宽带渗透率下滑，拆机上升是首因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9月宽带渗透率41.2%，较年初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；其中拆机上升贡献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，新装不足贡献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9445752" y="339547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9582912" y="330403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渗透率较年初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82041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488" y="534085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300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527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区县分化明显，E县、F县是追赶重点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仅A区完成率跑赢时序进度；E县、F县分别落后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，且F县收入同比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−0.7%</a:t>
            </a:r>
            <a:endParaRPr sz="1300"/>
          </a:p>
        </p:txBody>
      </p:sp>
      <p:cxnSp>
        <p:nvCxnSpPr>
          <p:cNvPr id="19" name="Connector 18"/>
          <p:cNvCxnSpPr/>
          <p:nvPr/>
        </p:nvCxnSpPr>
        <p:spPr>
          <a:xfrm>
            <a:off x="9445752" y="500329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582912" y="491185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跑赢时序区县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1/6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一、经营概览：收入稳中有进，全年目标承压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1-9月收入同比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、领先全省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，四季度月均收入需达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营业收入（1-9月）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38.62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同比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30118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收入完成率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73.1</a:t>
            </a: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时序进度 75% 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5916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移动用户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512.3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万户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+2.5%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1714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宽带渗透率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41.2</a:t>
            </a: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76372"/>
            <a:ext cx="6792163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月度收入（亿元）</a:t>
            </a:r>
            <a:endParaRPr sz="1500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3342132"/>
          <a:ext cx="6792163" cy="29215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86523" y="2976372"/>
            <a:ext cx="4528109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关键发现</a:t>
            </a:r>
            <a:endParaRPr sz="1500"/>
          </a:p>
        </p:txBody>
      </p:sp>
      <p:sp>
        <p:nvSpPr>
          <p:cNvPr id="13" name="TextBox 12"/>
          <p:cNvSpPr txBox="1"/>
          <p:nvPr/>
        </p:nvSpPr>
        <p:spPr>
          <a:xfrm>
            <a:off x="7386523" y="3387852"/>
            <a:ext cx="4528109" cy="28757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单月创新高：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9月收入4.48亿元，环比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+1.8%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，为年内单月最高水平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增速领先：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累计同比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，高于全省3.9%，领先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进度落后：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完成率73.1%，落后时序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；完成全年目标52.83亿元，四季度月均需4.74亿元，较前三季度月均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endParaRPr sz="1400"/>
          </a:p>
        </p:txBody>
      </p:sp>
      <p:sp>
        <p:nvSpPr>
          <p:cNvPr id="14" name="TextBox 13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一、经营概览：区县分化明显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仅A区跑赢时序进度；E县、F县完成率分别落后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，E县渗透率降幅全市最大（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），两县是追赶重点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7924190" cy="4658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17514"/>
                <a:gridCol w="1320698"/>
                <a:gridCol w="1015922"/>
                <a:gridCol w="1015922"/>
                <a:gridCol w="1219106"/>
                <a:gridCol w="1219106"/>
                <a:gridCol w="1015922"/>
              </a:tblGrid>
              <a:tr h="58235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收入（亿元）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同比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宽带渗透率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较年初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9.85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+7.8%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+0.2pp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+6.6%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74.7%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72.4%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5.37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+3.7%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4.96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+2.9%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−3.1pp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4.34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−5.9pp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全市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41.2%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18550" y="1604772"/>
            <a:ext cx="339608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对标结论</a:t>
            </a:r>
            <a:endParaRPr sz="1500"/>
          </a:p>
        </p:txBody>
      </p:sp>
      <p:sp>
        <p:nvSpPr>
          <p:cNvPr id="8" name="Rectangle 7"/>
          <p:cNvSpPr/>
          <p:nvPr/>
        </p:nvSpPr>
        <p:spPr>
          <a:xfrm>
            <a:off x="8518550" y="2043684"/>
            <a:ext cx="3396082" cy="129692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领跑：A区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+7.8%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，唯一跑赢时序的区县，可复制其存量经营做法</a:t>
            </a:r>
            <a:endParaRPr sz="1300"/>
          </a:p>
        </p:txBody>
      </p:sp>
      <p:sp>
        <p:nvSpPr>
          <p:cNvPr id="9" name="Rectangle 8"/>
          <p:cNvSpPr/>
          <p:nvPr/>
        </p:nvSpPr>
        <p:spPr>
          <a:xfrm>
            <a:off x="8518550" y="3505200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追赶：E县、F县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完成率落后时序3pp以上，渗透率降幅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endParaRPr sz="1300"/>
          </a:p>
        </p:txBody>
      </p:sp>
      <p:sp>
        <p:nvSpPr>
          <p:cNvPr id="10" name="Rectangle 9"/>
          <p:cNvSpPr/>
          <p:nvPr/>
        </p:nvSpPr>
        <p:spPr>
          <a:xfrm>
            <a:off x="8518550" y="4966716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关注：C区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收入体量第三，但渗透率较年初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，降幅高于全市</a:t>
            </a:r>
            <a:endParaRPr sz="13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数据来源：经分系统（示例数据）；统计口径：2025年1-9月累计，收入为不含税出账收入；时序进度按9/12计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二、问题诊断：拆机上升是渗透率下滑的首因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宽带渗透率较年初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，拆机上升是首要原因（贡献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），应优先抓存量维系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5806440"/>
            <a:ext cx="11640312" cy="457200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37160" tIns="73152" rIns="137160" bIns="73152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启示：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拆机贡献超过新装不足，四季度资源应向合约到期用户续约、装维质量提升倾斜，同时补齐C区、E县新建小区覆盖</a:t>
            </a:r>
            <a:endParaRPr sz="1300"/>
          </a:p>
        </p:txBody>
      </p:sp>
      <p:sp>
        <p:nvSpPr>
          <p:cNvPr id="7" name="Rectangle 6"/>
          <p:cNvSpPr/>
          <p:nvPr/>
        </p:nvSpPr>
        <p:spPr>
          <a:xfrm>
            <a:off x="274320" y="1604772"/>
            <a:ext cx="2349485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3081005" y="1604772"/>
            <a:ext cx="3064546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原因拆解（贡献度）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6602752" y="1604772"/>
            <a:ext cx="5311880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数据证据</a:t>
            </a:r>
            <a:endParaRPr sz="1200"/>
          </a:p>
        </p:txBody>
      </p:sp>
      <p:sp>
        <p:nvSpPr>
          <p:cNvPr id="10" name="Rectangle 9"/>
          <p:cNvSpPr/>
          <p:nvPr/>
        </p:nvSpPr>
        <p:spPr>
          <a:xfrm>
            <a:off x="274320" y="2996946"/>
            <a:ext cx="2349485" cy="173736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</a:t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/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 41.2%</a:t>
            </a:r>
            <a:endParaRPr sz="14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081005" y="2107692"/>
            <a:ext cx="3064546" cy="10805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新装不足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300"/>
          </a:p>
        </p:txBody>
      </p:sp>
      <p:sp>
        <p:nvSpPr>
          <p:cNvPr id="12" name="Rectangle 11"/>
          <p:cNvSpPr/>
          <p:nvPr/>
        </p:nvSpPr>
        <p:spPr>
          <a:xfrm>
            <a:off x="6602752" y="2107692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月均新装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1.82万户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−15.3%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；新建小区覆盖率仅62%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 flipV="1">
            <a:off x="2623805" y="2647950"/>
            <a:ext cx="457200" cy="121767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145552" y="2647950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3081005" y="3325368"/>
            <a:ext cx="3064546" cy="1080516"/>
          </a:xfrm>
          <a:prstGeom prst="rect">
            <a:avLst/>
          </a:prstGeom>
          <a:solidFill>
            <a:srgbClr val="FBE9E9"/>
          </a:solidFill>
          <a:ln w="9525">
            <a:solidFill>
              <a:srgbClr val="C00000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拆机上升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300"/>
          </a:p>
        </p:txBody>
      </p:sp>
      <p:sp>
        <p:nvSpPr>
          <p:cNvPr id="16" name="Rectangle 15"/>
          <p:cNvSpPr/>
          <p:nvPr/>
        </p:nvSpPr>
        <p:spPr>
          <a:xfrm>
            <a:off x="6602752" y="3325368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月均拆机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1.64万户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+18.8%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；合约到期用户拆机占58%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2623805" y="3865626"/>
            <a:ext cx="457200" cy="0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145552" y="3865626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3081005" y="4543044"/>
            <a:ext cx="3064546" cy="108051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住户基数扩大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−0.2pp</a:t>
            </a:r>
            <a:endParaRPr sz="1300"/>
          </a:p>
        </p:txBody>
      </p:sp>
      <p:sp>
        <p:nvSpPr>
          <p:cNvPr id="20" name="Rectangle 19"/>
          <p:cNvSpPr/>
          <p:nvPr/>
        </p:nvSpPr>
        <p:spPr>
          <a:xfrm>
            <a:off x="6602752" y="4543044"/>
            <a:ext cx="5311880" cy="108051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新增住户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3.6万户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，主要集中在C区、E县新建小区，资源覆盖滞后</a:t>
            </a:r>
            <a:endParaRPr sz="1200"/>
          </a:p>
        </p:txBody>
      </p:sp>
      <p:cxnSp>
        <p:nvCxnSpPr>
          <p:cNvPr id="21" name="Connector 20"/>
          <p:cNvCxnSpPr/>
          <p:nvPr/>
        </p:nvCxnSpPr>
        <p:spPr>
          <a:xfrm>
            <a:off x="2623805" y="3865626"/>
            <a:ext cx="457200" cy="121767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6145552" y="5083302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数据来源：宽带运营系统（示例数据）；渗透率=宽带在网用户/住户数，归因按因素分解法测算</a:t>
            </a:r>
            <a:endParaRPr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三、下一步举措：保存量、补短板、促追赶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围绕「保存量、补短板、促追赶」三条主线并强化保障，力争年底完成率达100%、渗透率止跌回升至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41.5%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11640312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64031"/>
                <a:gridCol w="4444483"/>
                <a:gridCol w="2962989"/>
                <a:gridCol w="1798957"/>
                <a:gridCol w="1269852"/>
              </a:tblGrid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关键举措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量化目标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牵头部门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完成时间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保存量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合约到期用户提前90天续约；装维质量专项整治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月均拆机降至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1.40万户</a:t>
                      </a: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以下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补短板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C区、E县新建小区资源覆盖攻坚，同步驻点营销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新建小区覆盖率提升至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促追赶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E县、F县「一县一策」，A区存量经营经验复制推广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两县完成率追平时序进度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市场部、各区县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强保障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周通报、月复盘；四季度激励向存量维系倾斜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收入月均达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4.74亿元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综合部、财务部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持续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079492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推进节奏</a:t>
            </a:r>
            <a:endParaRPr sz="1500"/>
          </a:p>
        </p:txBody>
      </p:sp>
      <p:sp>
        <p:nvSpPr>
          <p:cNvPr id="8" name="Pentagon 7"/>
          <p:cNvSpPr/>
          <p:nvPr/>
        </p:nvSpPr>
        <p:spPr>
          <a:xfrm>
            <a:off x="274320" y="5536692"/>
            <a:ext cx="3913784" cy="566928"/>
          </a:xfrm>
          <a:prstGeom prst="homePlate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73152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10月：方案部署、目标分解到区县</a:t>
            </a:r>
            <a:endParaRPr sz="1400"/>
          </a:p>
        </p:txBody>
      </p:sp>
      <p:sp>
        <p:nvSpPr>
          <p:cNvPr id="9" name="Chevron 8"/>
          <p:cNvSpPr/>
          <p:nvPr/>
        </p:nvSpPr>
        <p:spPr>
          <a:xfrm>
            <a:off x="4044544" y="5536692"/>
            <a:ext cx="4099865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35001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11月：存量维系与覆盖攻坚冲刺</a:t>
            </a:r>
            <a:endParaRPr sz="1400"/>
          </a:p>
        </p:txBody>
      </p:sp>
      <p:sp>
        <p:nvSpPr>
          <p:cNvPr id="10" name="Chevron 9"/>
          <p:cNvSpPr/>
          <p:nvPr/>
        </p:nvSpPr>
        <p:spPr>
          <a:xfrm>
            <a:off x="8000848" y="5536692"/>
            <a:ext cx="3913784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35001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12月：收官冲刺、全年复盘</a:t>
            </a:r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注：目标值为示例，需与年度预算口径对齐后确认</a:t>
            </a:r>
            <a:endParaRPr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rcRect t="45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